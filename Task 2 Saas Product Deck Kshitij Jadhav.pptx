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6"/>
  </p:notesMasterIdLst>
  <p:sldIdLst>
    <p:sldId id="256" r:id="rId2"/>
    <p:sldId id="257" r:id="rId3"/>
    <p:sldId id="258" r:id="rId4"/>
    <p:sldId id="259" r:id="rId5"/>
  </p:sldIdLst>
  <p:sldSz cx="14630400" cy="8229600"/>
  <p:notesSz cx="8229600" cy="14630400"/>
  <p:embeddedFontLst>
    <p:embeddedFont>
      <p:font typeface="Mukta Light" panose="020B0604020202020204" charset="0"/>
      <p:regular r:id="rId7"/>
    </p:embeddedFont>
    <p:embeddedFont>
      <p:font typeface="Prompt Medium" panose="00000600000000000000" pitchFamily="2" charset="-3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8253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18" Type="http://schemas.openxmlformats.org/officeDocument/2006/relationships/image" Target="../media/image2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17" Type="http://schemas.openxmlformats.org/officeDocument/2006/relationships/image" Target="../media/image19.png"/><Relationship Id="rId2" Type="http://schemas.openxmlformats.org/officeDocument/2006/relationships/notesSlide" Target="../notesSlides/notesSlide3.xml"/><Relationship Id="rId16" Type="http://schemas.openxmlformats.org/officeDocument/2006/relationships/image" Target="../media/image18.svg"/><Relationship Id="rId20" Type="http://schemas.microsoft.com/office/2007/relationships/hdphoto" Target="../media/hdphoto1.wdp"/><Relationship Id="rId1" Type="http://schemas.openxmlformats.org/officeDocument/2006/relationships/slideLayout" Target="../slideLayouts/slideLayout4.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svg"/><Relationship Id="rId19" Type="http://schemas.openxmlformats.org/officeDocument/2006/relationships/image" Target="../media/image4.pn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slides/_rels/slide4.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sv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23.png"/><Relationship Id="rId15" Type="http://schemas.microsoft.com/office/2007/relationships/hdphoto" Target="../media/hdphoto1.wdp"/><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svg"/><Relationship Id="rId1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67462" y="1595230"/>
            <a:ext cx="7381875" cy="2097762"/>
          </a:xfrm>
          <a:prstGeom prst="rect">
            <a:avLst/>
          </a:prstGeom>
          <a:noFill/>
          <a:ln/>
        </p:spPr>
        <p:txBody>
          <a:bodyPr wrap="square" lIns="0" tIns="0" rIns="0" bIns="0" rtlCol="0" anchor="t"/>
          <a:lstStyle/>
          <a:p>
            <a:pPr>
              <a:lnSpc>
                <a:spcPts val="5500"/>
              </a:lnSpc>
            </a:pPr>
            <a:r>
              <a:rPr lang="en-US" sz="4400" dirty="0">
                <a:solidFill>
                  <a:srgbClr val="C6BFEE"/>
                </a:solidFill>
                <a:latin typeface="Prompt Medium" pitchFamily="34" charset="0"/>
                <a:cs typeface="Prompt Medium" pitchFamily="34" charset="-120"/>
              </a:rPr>
              <a:t>GitHub – The World's Leading Dev Collaboration Platform</a:t>
            </a:r>
          </a:p>
        </p:txBody>
      </p:sp>
      <p:sp>
        <p:nvSpPr>
          <p:cNvPr id="4" name="Text 1"/>
          <p:cNvSpPr/>
          <p:nvPr/>
        </p:nvSpPr>
        <p:spPr>
          <a:xfrm>
            <a:off x="6367462" y="3858665"/>
            <a:ext cx="7381875" cy="322302"/>
          </a:xfrm>
          <a:prstGeom prst="rect">
            <a:avLst/>
          </a:prstGeom>
          <a:noFill/>
          <a:ln/>
        </p:spPr>
        <p:txBody>
          <a:bodyPr wrap="none" lIns="0" tIns="0" rIns="0" bIns="0" rtlCol="0" anchor="t"/>
          <a:lstStyle/>
          <a:p>
            <a:pPr>
              <a:lnSpc>
                <a:spcPts val="2500"/>
              </a:lnSpc>
            </a:pPr>
            <a:r>
              <a:rPr lang="en-US" sz="2100" b="1" dirty="0">
                <a:solidFill>
                  <a:srgbClr val="DAD8E9"/>
                </a:solidFill>
                <a:latin typeface="Mukta Light" pitchFamily="34" charset="0"/>
                <a:ea typeface="Mukta Light" pitchFamily="34" charset="-122"/>
                <a:cs typeface="Mukta Light" pitchFamily="34" charset="-120"/>
              </a:rPr>
              <a:t>Unified Version Control </a:t>
            </a:r>
            <a:r>
              <a:rPr lang="en-US" dirty="0">
                <a:solidFill>
                  <a:schemeClr val="bg2"/>
                </a:solidFill>
              </a:rPr>
              <a:t>•</a:t>
            </a:r>
            <a:r>
              <a:rPr lang="en-US" sz="2100" b="1" dirty="0">
                <a:solidFill>
                  <a:srgbClr val="DAD8E9"/>
                </a:solidFill>
                <a:latin typeface="Mukta Light" pitchFamily="34" charset="0"/>
                <a:ea typeface="Mukta Light" pitchFamily="34" charset="-122"/>
                <a:cs typeface="Mukta Light" pitchFamily="34" charset="-120"/>
              </a:rPr>
              <a:t> Seamless Collaboration </a:t>
            </a:r>
            <a:r>
              <a:rPr lang="en-US" sz="2400" dirty="0">
                <a:solidFill>
                  <a:schemeClr val="bg2"/>
                </a:solidFill>
              </a:rPr>
              <a:t>• </a:t>
            </a:r>
            <a:r>
              <a:rPr lang="en-US" sz="2100" b="1" dirty="0">
                <a:solidFill>
                  <a:srgbClr val="DAD8E9"/>
                </a:solidFill>
                <a:latin typeface="Mukta Light" pitchFamily="34" charset="0"/>
                <a:ea typeface="Mukta Light" pitchFamily="34" charset="-122"/>
                <a:cs typeface="Mukta Light" pitchFamily="34" charset="-120"/>
              </a:rPr>
              <a:t>Accelerated Delivery</a:t>
            </a:r>
            <a:endParaRPr lang="en-US" sz="2100" dirty="0"/>
          </a:p>
        </p:txBody>
      </p:sp>
      <p:sp>
        <p:nvSpPr>
          <p:cNvPr id="5" name="Text 2"/>
          <p:cNvSpPr/>
          <p:nvPr/>
        </p:nvSpPr>
        <p:spPr>
          <a:xfrm>
            <a:off x="6367462" y="4419499"/>
            <a:ext cx="7381875" cy="1289209"/>
          </a:xfrm>
          <a:prstGeom prst="rect">
            <a:avLst/>
          </a:prstGeom>
          <a:noFill/>
          <a:ln/>
        </p:spPr>
        <p:txBody>
          <a:bodyPr wrap="square" lIns="0" tIns="0" rIns="0" bIns="0" rtlCol="0" anchor="t"/>
          <a:lstStyle/>
          <a:p>
            <a:pPr marL="0" indent="0" algn="l">
              <a:lnSpc>
                <a:spcPts val="2500"/>
              </a:lnSpc>
              <a:buNone/>
            </a:pPr>
            <a:r>
              <a:rPr lang="en-US" sz="1700" dirty="0">
                <a:solidFill>
                  <a:srgbClr val="DAD8E9"/>
                </a:solidFill>
                <a:latin typeface="Mukta Light" pitchFamily="34" charset="0"/>
                <a:ea typeface="Mukta Light" pitchFamily="34" charset="-122"/>
                <a:cs typeface="Mukta Light" pitchFamily="34" charset="-120"/>
              </a:rPr>
              <a:t>Traditional code collaboration suffers from fragmentation, complex workflows, and lack of unified version control. These challenges slow development and introduce costly errors. GitHub solves this with an integrated platform trusted by millions of developers worldwide.</a:t>
            </a:r>
            <a:endParaRPr lang="en-US" sz="1700" dirty="0"/>
          </a:p>
        </p:txBody>
      </p:sp>
      <p:sp>
        <p:nvSpPr>
          <p:cNvPr id="6" name="Rectangle 5">
            <a:extLst>
              <a:ext uri="{FF2B5EF4-FFF2-40B4-BE49-F238E27FC236}">
                <a16:creationId xmlns:a16="http://schemas.microsoft.com/office/drawing/2014/main" id="{7A906A25-E865-1EDA-A08D-2891AF1AD2AA}"/>
              </a:ext>
            </a:extLst>
          </p:cNvPr>
          <p:cNvSpPr/>
          <p:nvPr/>
        </p:nvSpPr>
        <p:spPr>
          <a:xfrm>
            <a:off x="12846205" y="7649738"/>
            <a:ext cx="1694985" cy="512956"/>
          </a:xfrm>
          <a:prstGeom prst="rect">
            <a:avLst/>
          </a:prstGeom>
          <a:solidFill>
            <a:srgbClr val="0A0B21"/>
          </a:solidFill>
          <a:ln>
            <a:solidFill>
              <a:srgbClr val="0A0B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81063" y="584769"/>
            <a:ext cx="5035272" cy="629364"/>
          </a:xfrm>
          <a:prstGeom prst="rect">
            <a:avLst/>
          </a:prstGeom>
          <a:noFill/>
          <a:ln/>
        </p:spPr>
        <p:txBody>
          <a:bodyPr wrap="none" lIns="0" tIns="0" rIns="0" bIns="0" rtlCol="0" anchor="t"/>
          <a:lstStyle/>
          <a:p>
            <a:pPr marL="0" indent="0" algn="l">
              <a:lnSpc>
                <a:spcPts val="4950"/>
              </a:lnSpc>
              <a:buNone/>
            </a:pPr>
            <a:r>
              <a:rPr lang="en-US" sz="4400" dirty="0">
                <a:solidFill>
                  <a:srgbClr val="C6BFEE"/>
                </a:solidFill>
                <a:latin typeface="Prompt Medium" pitchFamily="34" charset="0"/>
                <a:ea typeface="Prompt Medium" pitchFamily="34" charset="-122"/>
                <a:cs typeface="Prompt Medium" pitchFamily="34" charset="-120"/>
              </a:rPr>
              <a:t>Why GitHub?</a:t>
            </a:r>
            <a:endParaRPr lang="en-US" sz="4400" dirty="0"/>
          </a:p>
        </p:txBody>
      </p:sp>
      <p:sp>
        <p:nvSpPr>
          <p:cNvPr id="3" name="Text 1"/>
          <p:cNvSpPr/>
          <p:nvPr/>
        </p:nvSpPr>
        <p:spPr>
          <a:xfrm>
            <a:off x="881063" y="1217637"/>
            <a:ext cx="3610094" cy="314682"/>
          </a:xfrm>
          <a:prstGeom prst="rect">
            <a:avLst/>
          </a:prstGeom>
          <a:noFill/>
          <a:ln/>
        </p:spPr>
        <p:txBody>
          <a:bodyPr wrap="none" lIns="0" tIns="0" rIns="0" bIns="0" rtlCol="0" anchor="t"/>
          <a:lstStyle/>
          <a:p>
            <a:pPr marL="0" indent="0" algn="l">
              <a:lnSpc>
                <a:spcPts val="2450"/>
              </a:lnSpc>
              <a:buNone/>
            </a:pPr>
            <a:r>
              <a:rPr lang="en-US" sz="2100" dirty="0">
                <a:solidFill>
                  <a:srgbClr val="C6BFEE"/>
                </a:solidFill>
                <a:latin typeface="Prompt Medium" pitchFamily="34" charset="0"/>
                <a:ea typeface="Prompt Medium" pitchFamily="34" charset="-122"/>
                <a:cs typeface="Prompt Medium" pitchFamily="34" charset="-120"/>
              </a:rPr>
              <a:t>Business &amp; Developer Impact</a:t>
            </a:r>
            <a:endParaRPr lang="en-US" sz="2100" dirty="0"/>
          </a:p>
        </p:txBody>
      </p:sp>
      <p:sp>
        <p:nvSpPr>
          <p:cNvPr id="4" name="Text 2"/>
          <p:cNvSpPr/>
          <p:nvPr/>
        </p:nvSpPr>
        <p:spPr>
          <a:xfrm>
            <a:off x="881063" y="1726678"/>
            <a:ext cx="12868275" cy="344329"/>
          </a:xfrm>
          <a:prstGeom prst="rect">
            <a:avLst/>
          </a:prstGeom>
          <a:noFill/>
          <a:ln/>
        </p:spPr>
        <p:txBody>
          <a:bodyPr wrap="none" lIns="0" tIns="0" rIns="0" bIns="0" rtlCol="0" anchor="t"/>
          <a:lstStyle/>
          <a:p>
            <a:pPr marL="0" indent="0" algn="l">
              <a:lnSpc>
                <a:spcPts val="2700"/>
              </a:lnSpc>
              <a:buNone/>
            </a:pPr>
            <a:r>
              <a:rPr lang="en-US" sz="1850" dirty="0">
                <a:solidFill>
                  <a:srgbClr val="DAD8E9"/>
                </a:solidFill>
                <a:latin typeface="Mukta Light" pitchFamily="34" charset="0"/>
                <a:ea typeface="Mukta Light" pitchFamily="34" charset="-122"/>
                <a:cs typeface="Mukta Light" pitchFamily="34" charset="-120"/>
              </a:rPr>
              <a:t>GitHub delivers measurable value from both business and developer perspectives.</a:t>
            </a:r>
            <a:endParaRPr lang="en-US" sz="1850" dirty="0"/>
          </a:p>
        </p:txBody>
      </p:sp>
      <p:sp>
        <p:nvSpPr>
          <p:cNvPr id="5" name="Text 3"/>
          <p:cNvSpPr/>
          <p:nvPr/>
        </p:nvSpPr>
        <p:spPr>
          <a:xfrm>
            <a:off x="881063" y="2255715"/>
            <a:ext cx="12868275" cy="344329"/>
          </a:xfrm>
          <a:prstGeom prst="rect">
            <a:avLst/>
          </a:prstGeom>
          <a:noFill/>
          <a:ln/>
        </p:spPr>
        <p:txBody>
          <a:bodyPr wrap="none" lIns="0" tIns="0" rIns="0" bIns="0" rtlCol="0" anchor="t"/>
          <a:lstStyle/>
          <a:p>
            <a:pPr marL="0" indent="0" algn="l">
              <a:lnSpc>
                <a:spcPts val="2700"/>
              </a:lnSpc>
              <a:buNone/>
            </a:pPr>
            <a:r>
              <a:rPr lang="en-US" sz="1850" b="1" dirty="0">
                <a:solidFill>
                  <a:srgbClr val="DAD8E9"/>
                </a:solidFill>
                <a:latin typeface="Mukta Light" pitchFamily="34" charset="0"/>
                <a:ea typeface="Mukta Light" pitchFamily="34" charset="-122"/>
                <a:cs typeface="Mukta Light" pitchFamily="34" charset="-120"/>
              </a:rPr>
              <a:t>Use case: Multi-Team Feature Release</a:t>
            </a:r>
            <a:r>
              <a:rPr lang="en-US" sz="1850" dirty="0">
                <a:solidFill>
                  <a:srgbClr val="DAD8E9"/>
                </a:solidFill>
                <a:latin typeface="Mukta Light" pitchFamily="34" charset="0"/>
                <a:ea typeface="Mukta Light" pitchFamily="34" charset="-122"/>
                <a:cs typeface="Mukta Light" pitchFamily="34" charset="-120"/>
              </a:rPr>
              <a:t> - A distributed team of 50+ developers across 3 locations collaborating on a major feature release.</a:t>
            </a:r>
            <a:endParaRPr lang="en-US" sz="1850" dirty="0"/>
          </a:p>
        </p:txBody>
      </p:sp>
      <p:sp>
        <p:nvSpPr>
          <p:cNvPr id="6" name="Text 4"/>
          <p:cNvSpPr/>
          <p:nvPr/>
        </p:nvSpPr>
        <p:spPr>
          <a:xfrm>
            <a:off x="1196340" y="3221369"/>
            <a:ext cx="5675948" cy="747713"/>
          </a:xfrm>
          <a:prstGeom prst="rect">
            <a:avLst/>
          </a:prstGeom>
          <a:noFill/>
          <a:ln/>
        </p:spPr>
        <p:txBody>
          <a:bodyPr wrap="none" lIns="0" tIns="0" rIns="0" bIns="0" rtlCol="0" anchor="t"/>
          <a:lstStyle/>
          <a:p>
            <a:pPr marL="0" indent="0" algn="ctr">
              <a:lnSpc>
                <a:spcPts val="5850"/>
              </a:lnSpc>
              <a:buNone/>
            </a:pPr>
            <a:r>
              <a:rPr lang="en-US" sz="5850" dirty="0">
                <a:solidFill>
                  <a:srgbClr val="B05EF1"/>
                </a:solidFill>
                <a:latin typeface="Prompt Medium" pitchFamily="34" charset="0"/>
                <a:ea typeface="Prompt Medium" pitchFamily="34" charset="-122"/>
                <a:cs typeface="Prompt Medium" pitchFamily="34" charset="-120"/>
              </a:rPr>
              <a:t>20%</a:t>
            </a:r>
            <a:endParaRPr lang="en-US" sz="5850" dirty="0"/>
          </a:p>
        </p:txBody>
      </p:sp>
      <p:sp>
        <p:nvSpPr>
          <p:cNvPr id="7" name="Text 5"/>
          <p:cNvSpPr/>
          <p:nvPr/>
        </p:nvSpPr>
        <p:spPr>
          <a:xfrm>
            <a:off x="2775585" y="4235186"/>
            <a:ext cx="2517577" cy="314682"/>
          </a:xfrm>
          <a:prstGeom prst="rect">
            <a:avLst/>
          </a:prstGeom>
          <a:noFill/>
          <a:ln/>
        </p:spPr>
        <p:txBody>
          <a:bodyPr wrap="none" lIns="0" tIns="0" rIns="0" bIns="0" rtlCol="0" anchor="t"/>
          <a:lstStyle/>
          <a:p>
            <a:pPr marL="0" indent="0" algn="ctr">
              <a:lnSpc>
                <a:spcPts val="2450"/>
              </a:lnSpc>
              <a:buNone/>
            </a:pPr>
            <a:r>
              <a:rPr lang="en-US" sz="1950" dirty="0">
                <a:solidFill>
                  <a:srgbClr val="DAD8E9"/>
                </a:solidFill>
                <a:latin typeface="Prompt Medium" pitchFamily="34" charset="0"/>
                <a:ea typeface="Prompt Medium" pitchFamily="34" charset="-122"/>
                <a:cs typeface="Prompt Medium" pitchFamily="34" charset="-120"/>
              </a:rPr>
              <a:t>Faster Merge Cycles</a:t>
            </a:r>
            <a:endParaRPr lang="en-US" sz="1950" dirty="0"/>
          </a:p>
        </p:txBody>
      </p:sp>
      <p:sp>
        <p:nvSpPr>
          <p:cNvPr id="8" name="Text 6"/>
          <p:cNvSpPr/>
          <p:nvPr/>
        </p:nvSpPr>
        <p:spPr>
          <a:xfrm>
            <a:off x="881063" y="4672146"/>
            <a:ext cx="6306622" cy="344329"/>
          </a:xfrm>
          <a:prstGeom prst="rect">
            <a:avLst/>
          </a:prstGeom>
          <a:noFill/>
          <a:ln/>
        </p:spPr>
        <p:txBody>
          <a:bodyPr wrap="none" lIns="0" tIns="0" rIns="0" bIns="0" rtlCol="0" anchor="t"/>
          <a:lstStyle/>
          <a:p>
            <a:pPr marL="0" indent="0" algn="ctr">
              <a:lnSpc>
                <a:spcPts val="2700"/>
              </a:lnSpc>
              <a:buNone/>
            </a:pPr>
            <a:r>
              <a:rPr lang="en-US" sz="1750" dirty="0">
                <a:solidFill>
                  <a:srgbClr val="DAD8E9"/>
                </a:solidFill>
                <a:latin typeface="Mukta Light" pitchFamily="34" charset="0"/>
                <a:ea typeface="Mukta Light" pitchFamily="34" charset="-122"/>
                <a:cs typeface="Mukta Light" pitchFamily="34" charset="-120"/>
              </a:rPr>
              <a:t>Reduction in merge time due to streamlined workflows</a:t>
            </a:r>
            <a:endParaRPr lang="en-US" sz="1750" dirty="0"/>
          </a:p>
        </p:txBody>
      </p:sp>
      <p:sp>
        <p:nvSpPr>
          <p:cNvPr id="9" name="Text 7"/>
          <p:cNvSpPr/>
          <p:nvPr/>
        </p:nvSpPr>
        <p:spPr>
          <a:xfrm>
            <a:off x="7757874" y="3221369"/>
            <a:ext cx="5676067" cy="747713"/>
          </a:xfrm>
          <a:prstGeom prst="rect">
            <a:avLst/>
          </a:prstGeom>
          <a:noFill/>
          <a:ln/>
        </p:spPr>
        <p:txBody>
          <a:bodyPr wrap="none" lIns="0" tIns="0" rIns="0" bIns="0" rtlCol="0" anchor="t"/>
          <a:lstStyle/>
          <a:p>
            <a:pPr marL="0" indent="0" algn="ctr">
              <a:lnSpc>
                <a:spcPts val="5850"/>
              </a:lnSpc>
              <a:buNone/>
            </a:pPr>
            <a:r>
              <a:rPr lang="en-US" sz="5850" dirty="0">
                <a:solidFill>
                  <a:srgbClr val="B05EF1"/>
                </a:solidFill>
                <a:latin typeface="Prompt Medium" pitchFamily="34" charset="0"/>
                <a:ea typeface="Prompt Medium" pitchFamily="34" charset="-122"/>
                <a:cs typeface="Prompt Medium" pitchFamily="34" charset="-120"/>
              </a:rPr>
              <a:t>15%</a:t>
            </a:r>
            <a:endParaRPr lang="en-US" sz="5850" dirty="0"/>
          </a:p>
        </p:txBody>
      </p:sp>
      <p:sp>
        <p:nvSpPr>
          <p:cNvPr id="10" name="Text 8"/>
          <p:cNvSpPr/>
          <p:nvPr/>
        </p:nvSpPr>
        <p:spPr>
          <a:xfrm>
            <a:off x="9337119" y="4235186"/>
            <a:ext cx="2517577" cy="314682"/>
          </a:xfrm>
          <a:prstGeom prst="rect">
            <a:avLst/>
          </a:prstGeom>
          <a:noFill/>
          <a:ln/>
        </p:spPr>
        <p:txBody>
          <a:bodyPr wrap="none" lIns="0" tIns="0" rIns="0" bIns="0" rtlCol="0" anchor="t"/>
          <a:lstStyle/>
          <a:p>
            <a:pPr marL="0" indent="0" algn="ctr">
              <a:lnSpc>
                <a:spcPts val="2450"/>
              </a:lnSpc>
              <a:buNone/>
            </a:pPr>
            <a:r>
              <a:rPr lang="en-US" sz="1950" dirty="0">
                <a:solidFill>
                  <a:srgbClr val="DAD8E9"/>
                </a:solidFill>
                <a:latin typeface="Prompt Medium" pitchFamily="34" charset="0"/>
                <a:ea typeface="Prompt Medium" pitchFamily="34" charset="-122"/>
                <a:cs typeface="Prompt Medium" pitchFamily="34" charset="-120"/>
              </a:rPr>
              <a:t>Fewer Conflicts</a:t>
            </a:r>
            <a:endParaRPr lang="en-US" sz="1950" dirty="0"/>
          </a:p>
        </p:txBody>
      </p:sp>
      <p:sp>
        <p:nvSpPr>
          <p:cNvPr id="11" name="Text 9"/>
          <p:cNvSpPr/>
          <p:nvPr/>
        </p:nvSpPr>
        <p:spPr>
          <a:xfrm>
            <a:off x="7442597" y="4672146"/>
            <a:ext cx="6306741" cy="344329"/>
          </a:xfrm>
          <a:prstGeom prst="rect">
            <a:avLst/>
          </a:prstGeom>
          <a:noFill/>
          <a:ln/>
        </p:spPr>
        <p:txBody>
          <a:bodyPr wrap="none" lIns="0" tIns="0" rIns="0" bIns="0" rtlCol="0" anchor="t"/>
          <a:lstStyle/>
          <a:p>
            <a:pPr marL="0" indent="0" algn="ctr">
              <a:lnSpc>
                <a:spcPts val="2700"/>
              </a:lnSpc>
              <a:buNone/>
            </a:pPr>
            <a:r>
              <a:rPr lang="en-US" sz="1750" dirty="0">
                <a:solidFill>
                  <a:srgbClr val="DAD8E9"/>
                </a:solidFill>
                <a:latin typeface="Mukta Light" pitchFamily="34" charset="0"/>
                <a:ea typeface="Mukta Light" pitchFamily="34" charset="-122"/>
                <a:cs typeface="Mukta Light" pitchFamily="34" charset="-120"/>
              </a:rPr>
              <a:t>Decrease in code conflicts and miscommunications</a:t>
            </a:r>
            <a:endParaRPr lang="en-US" sz="1750" dirty="0"/>
          </a:p>
        </p:txBody>
      </p:sp>
      <p:sp>
        <p:nvSpPr>
          <p:cNvPr id="12" name="Text 10"/>
          <p:cNvSpPr/>
          <p:nvPr/>
        </p:nvSpPr>
        <p:spPr>
          <a:xfrm>
            <a:off x="1196340" y="5537492"/>
            <a:ext cx="5675948" cy="747713"/>
          </a:xfrm>
          <a:prstGeom prst="rect">
            <a:avLst/>
          </a:prstGeom>
          <a:noFill/>
          <a:ln/>
        </p:spPr>
        <p:txBody>
          <a:bodyPr wrap="none" lIns="0" tIns="0" rIns="0" bIns="0" rtlCol="0" anchor="t"/>
          <a:lstStyle/>
          <a:p>
            <a:pPr marL="0" indent="0" algn="ctr">
              <a:lnSpc>
                <a:spcPts val="5850"/>
              </a:lnSpc>
              <a:buNone/>
            </a:pPr>
            <a:r>
              <a:rPr lang="en-US" sz="5850" dirty="0">
                <a:solidFill>
                  <a:srgbClr val="B05EF1"/>
                </a:solidFill>
                <a:latin typeface="Prompt Medium" pitchFamily="34" charset="0"/>
                <a:ea typeface="Prompt Medium" pitchFamily="34" charset="-122"/>
                <a:cs typeface="Prompt Medium" pitchFamily="34" charset="-120"/>
              </a:rPr>
              <a:t>25%</a:t>
            </a:r>
            <a:endParaRPr lang="en-US" sz="5850" dirty="0"/>
          </a:p>
        </p:txBody>
      </p:sp>
      <p:sp>
        <p:nvSpPr>
          <p:cNvPr id="13" name="Text 11"/>
          <p:cNvSpPr/>
          <p:nvPr/>
        </p:nvSpPr>
        <p:spPr>
          <a:xfrm>
            <a:off x="2775585" y="6551309"/>
            <a:ext cx="2517577" cy="314682"/>
          </a:xfrm>
          <a:prstGeom prst="rect">
            <a:avLst/>
          </a:prstGeom>
          <a:noFill/>
          <a:ln/>
        </p:spPr>
        <p:txBody>
          <a:bodyPr wrap="none" lIns="0" tIns="0" rIns="0" bIns="0" rtlCol="0" anchor="t"/>
          <a:lstStyle/>
          <a:p>
            <a:pPr marL="0" indent="0" algn="ctr">
              <a:lnSpc>
                <a:spcPts val="2450"/>
              </a:lnSpc>
              <a:buNone/>
            </a:pPr>
            <a:r>
              <a:rPr lang="en-US" sz="1950" dirty="0">
                <a:solidFill>
                  <a:srgbClr val="DAD8E9"/>
                </a:solidFill>
                <a:latin typeface="Prompt Medium" pitchFamily="34" charset="0"/>
                <a:ea typeface="Prompt Medium" pitchFamily="34" charset="-122"/>
                <a:cs typeface="Prompt Medium" pitchFamily="34" charset="-120"/>
              </a:rPr>
              <a:t>Productivity Gain</a:t>
            </a:r>
            <a:endParaRPr lang="en-US" sz="1950" dirty="0"/>
          </a:p>
        </p:txBody>
      </p:sp>
      <p:sp>
        <p:nvSpPr>
          <p:cNvPr id="14" name="Text 12"/>
          <p:cNvSpPr/>
          <p:nvPr/>
        </p:nvSpPr>
        <p:spPr>
          <a:xfrm>
            <a:off x="881063" y="6988269"/>
            <a:ext cx="6306622" cy="344329"/>
          </a:xfrm>
          <a:prstGeom prst="rect">
            <a:avLst/>
          </a:prstGeom>
          <a:noFill/>
          <a:ln/>
        </p:spPr>
        <p:txBody>
          <a:bodyPr wrap="none" lIns="0" tIns="0" rIns="0" bIns="0" rtlCol="0" anchor="t"/>
          <a:lstStyle/>
          <a:p>
            <a:pPr marL="0" indent="0" algn="ctr">
              <a:lnSpc>
                <a:spcPts val="2700"/>
              </a:lnSpc>
              <a:buNone/>
            </a:pPr>
            <a:r>
              <a:rPr lang="en-US" sz="1750" dirty="0">
                <a:solidFill>
                  <a:srgbClr val="DAD8E9"/>
                </a:solidFill>
                <a:latin typeface="Mukta Light" pitchFamily="34" charset="0"/>
                <a:ea typeface="Mukta Light" pitchFamily="34" charset="-122"/>
                <a:cs typeface="Mukta Light" pitchFamily="34" charset="-120"/>
              </a:rPr>
              <a:t>Improvement in productivity across distributed teams</a:t>
            </a:r>
            <a:endParaRPr lang="en-US" sz="1750" dirty="0"/>
          </a:p>
        </p:txBody>
      </p:sp>
      <p:sp>
        <p:nvSpPr>
          <p:cNvPr id="15" name="Text 13"/>
          <p:cNvSpPr/>
          <p:nvPr/>
        </p:nvSpPr>
        <p:spPr>
          <a:xfrm>
            <a:off x="7757874" y="5537492"/>
            <a:ext cx="5676067" cy="747713"/>
          </a:xfrm>
          <a:prstGeom prst="rect">
            <a:avLst/>
          </a:prstGeom>
          <a:noFill/>
          <a:ln/>
        </p:spPr>
        <p:txBody>
          <a:bodyPr wrap="none" lIns="0" tIns="0" rIns="0" bIns="0" rtlCol="0" anchor="t"/>
          <a:lstStyle/>
          <a:p>
            <a:pPr marL="0" indent="0" algn="ctr">
              <a:lnSpc>
                <a:spcPts val="5850"/>
              </a:lnSpc>
              <a:buNone/>
            </a:pPr>
            <a:r>
              <a:rPr lang="en-US" sz="5850" dirty="0">
                <a:solidFill>
                  <a:srgbClr val="B05EF1"/>
                </a:solidFill>
                <a:latin typeface="Prompt Medium" pitchFamily="34" charset="0"/>
                <a:ea typeface="Prompt Medium" pitchFamily="34" charset="-122"/>
                <a:cs typeface="Prompt Medium" pitchFamily="34" charset="-120"/>
              </a:rPr>
              <a:t>40%</a:t>
            </a:r>
            <a:endParaRPr lang="en-US" sz="5850" dirty="0"/>
          </a:p>
        </p:txBody>
      </p:sp>
      <p:sp>
        <p:nvSpPr>
          <p:cNvPr id="16" name="Text 14"/>
          <p:cNvSpPr/>
          <p:nvPr/>
        </p:nvSpPr>
        <p:spPr>
          <a:xfrm>
            <a:off x="9248418" y="6551309"/>
            <a:ext cx="2694980" cy="314682"/>
          </a:xfrm>
          <a:prstGeom prst="rect">
            <a:avLst/>
          </a:prstGeom>
          <a:noFill/>
          <a:ln/>
        </p:spPr>
        <p:txBody>
          <a:bodyPr wrap="none" lIns="0" tIns="0" rIns="0" bIns="0" rtlCol="0" anchor="t"/>
          <a:lstStyle/>
          <a:p>
            <a:pPr marL="0" indent="0" algn="ctr">
              <a:lnSpc>
                <a:spcPts val="2450"/>
              </a:lnSpc>
              <a:buNone/>
            </a:pPr>
            <a:r>
              <a:rPr lang="en-US" sz="1950" dirty="0">
                <a:solidFill>
                  <a:srgbClr val="DAD8E9"/>
                </a:solidFill>
                <a:latin typeface="Prompt Medium" pitchFamily="34" charset="0"/>
                <a:ea typeface="Prompt Medium" pitchFamily="34" charset="-122"/>
                <a:cs typeface="Prompt Medium" pitchFamily="34" charset="-120"/>
              </a:rPr>
              <a:t>Security Improvement</a:t>
            </a:r>
            <a:endParaRPr lang="en-US" sz="1950" dirty="0"/>
          </a:p>
        </p:txBody>
      </p:sp>
      <p:sp>
        <p:nvSpPr>
          <p:cNvPr id="17" name="Text 15"/>
          <p:cNvSpPr/>
          <p:nvPr/>
        </p:nvSpPr>
        <p:spPr>
          <a:xfrm>
            <a:off x="7442597" y="6988269"/>
            <a:ext cx="6306741" cy="344329"/>
          </a:xfrm>
          <a:prstGeom prst="rect">
            <a:avLst/>
          </a:prstGeom>
          <a:noFill/>
          <a:ln/>
        </p:spPr>
        <p:txBody>
          <a:bodyPr wrap="none" lIns="0" tIns="0" rIns="0" bIns="0" rtlCol="0" anchor="t"/>
          <a:lstStyle/>
          <a:p>
            <a:pPr marL="0" indent="0" algn="ctr">
              <a:lnSpc>
                <a:spcPts val="2700"/>
              </a:lnSpc>
              <a:buNone/>
            </a:pPr>
            <a:r>
              <a:rPr lang="en-US" sz="1750" dirty="0">
                <a:solidFill>
                  <a:srgbClr val="DAD8E9"/>
                </a:solidFill>
                <a:latin typeface="Mukta Light" pitchFamily="34" charset="0"/>
                <a:ea typeface="Mukta Light" pitchFamily="34" charset="-122"/>
                <a:cs typeface="Mukta Light" pitchFamily="34" charset="-120"/>
              </a:rPr>
              <a:t>Enhanced code security and vulnerability detection</a:t>
            </a:r>
            <a:endParaRPr lang="en-US" sz="1750" dirty="0"/>
          </a:p>
        </p:txBody>
      </p:sp>
      <p:sp>
        <p:nvSpPr>
          <p:cNvPr id="18" name="Rectangle 17">
            <a:extLst>
              <a:ext uri="{FF2B5EF4-FFF2-40B4-BE49-F238E27FC236}">
                <a16:creationId xmlns:a16="http://schemas.microsoft.com/office/drawing/2014/main" id="{E876936A-195B-1A84-2BB4-7A0105B6D7ED}"/>
              </a:ext>
            </a:extLst>
          </p:cNvPr>
          <p:cNvSpPr/>
          <p:nvPr/>
        </p:nvSpPr>
        <p:spPr>
          <a:xfrm>
            <a:off x="12846205" y="7638587"/>
            <a:ext cx="1694985" cy="512956"/>
          </a:xfrm>
          <a:prstGeom prst="rect">
            <a:avLst/>
          </a:prstGeom>
          <a:solidFill>
            <a:srgbClr val="0A0B21"/>
          </a:solidFill>
          <a:ln>
            <a:solidFill>
              <a:srgbClr val="0A0B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88721572-A4C7-16B6-4F51-5A1EC0C63399}"/>
              </a:ext>
            </a:extLst>
          </p:cNvPr>
          <p:cNvPicPr>
            <a:picLocks noChangeAspect="1"/>
          </p:cNvPicPr>
          <p:nvPr/>
        </p:nvPicPr>
        <p:blipFill>
          <a:blip r:embed="rId3">
            <a:lum bright="70000" contrast="-70000"/>
            <a:extLst>
              <a:ext uri="{BEBA8EAE-BF5A-486C-A8C5-ECC9F3942E4B}">
                <a14:imgProps xmlns:a14="http://schemas.microsoft.com/office/drawing/2010/main">
                  <a14:imgLayer r:embed="rId4">
                    <a14:imgEffect>
                      <a14:artisticPhotocopy/>
                    </a14:imgEffect>
                  </a14:imgLayer>
                </a14:imgProps>
              </a:ext>
            </a:extLst>
          </a:blip>
          <a:stretch>
            <a:fillRect/>
          </a:stretch>
        </p:blipFill>
        <p:spPr>
          <a:xfrm>
            <a:off x="13736248" y="7326351"/>
            <a:ext cx="914400" cy="914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81063" y="881539"/>
            <a:ext cx="3916323" cy="489466"/>
          </a:xfrm>
          <a:prstGeom prst="rect">
            <a:avLst/>
          </a:prstGeom>
          <a:noFill/>
          <a:ln/>
        </p:spPr>
        <p:txBody>
          <a:bodyPr wrap="none" lIns="0" tIns="0" rIns="0" bIns="0" rtlCol="0" anchor="t"/>
          <a:lstStyle/>
          <a:p>
            <a:pPr marL="0" indent="0" algn="l">
              <a:lnSpc>
                <a:spcPts val="3850"/>
              </a:lnSpc>
              <a:buNone/>
            </a:pPr>
            <a:r>
              <a:rPr lang="en-US" sz="3050" dirty="0">
                <a:solidFill>
                  <a:srgbClr val="C6BFEE"/>
                </a:solidFill>
                <a:latin typeface="Prompt Medium" pitchFamily="34" charset="0"/>
                <a:ea typeface="Prompt Medium" pitchFamily="34" charset="-122"/>
                <a:cs typeface="Prompt Medium" pitchFamily="34" charset="-120"/>
              </a:rPr>
              <a:t>Core Capabilities</a:t>
            </a:r>
            <a:endParaRPr lang="en-US" sz="3050" dirty="0"/>
          </a:p>
        </p:txBody>
      </p:sp>
      <p:sp>
        <p:nvSpPr>
          <p:cNvPr id="3" name="Text 1"/>
          <p:cNvSpPr/>
          <p:nvPr/>
        </p:nvSpPr>
        <p:spPr>
          <a:xfrm>
            <a:off x="881063" y="1617702"/>
            <a:ext cx="12868275" cy="239554"/>
          </a:xfrm>
          <a:prstGeom prst="rect">
            <a:avLst/>
          </a:prstGeom>
          <a:noFill/>
          <a:ln/>
        </p:spPr>
        <p:txBody>
          <a:bodyPr wrap="none" lIns="0" tIns="0" rIns="0" bIns="0" rtlCol="0" anchor="t"/>
          <a:lstStyle/>
          <a:p>
            <a:pPr marL="0" indent="0" algn="l">
              <a:lnSpc>
                <a:spcPts val="1850"/>
              </a:lnSpc>
              <a:buNone/>
            </a:pPr>
            <a:r>
              <a:rPr lang="en-US" sz="1350" dirty="0">
                <a:solidFill>
                  <a:srgbClr val="DAD8E9"/>
                </a:solidFill>
                <a:latin typeface="Mukta Light" pitchFamily="34" charset="0"/>
                <a:ea typeface="Mukta Light" pitchFamily="34" charset="-122"/>
                <a:cs typeface="Mukta Light" pitchFamily="34" charset="-120"/>
              </a:rPr>
              <a:t>GitHub is a comprehensive SaaS platform for code hosting, version control, collaboration, and CI/CD—all in one unified solution.</a:t>
            </a:r>
            <a:endParaRPr lang="en-US" sz="13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1063" y="1995964"/>
            <a:ext cx="440531" cy="440531"/>
          </a:xfrm>
          <a:prstGeom prst="rect">
            <a:avLst/>
          </a:prstGeom>
        </p:spPr>
      </p:pic>
      <p:sp>
        <p:nvSpPr>
          <p:cNvPr id="5" name="Text 2"/>
          <p:cNvSpPr/>
          <p:nvPr/>
        </p:nvSpPr>
        <p:spPr>
          <a:xfrm>
            <a:off x="881063" y="2590681"/>
            <a:ext cx="2544842" cy="244793"/>
          </a:xfrm>
          <a:prstGeom prst="rect">
            <a:avLst/>
          </a:prstGeom>
          <a:noFill/>
          <a:ln/>
        </p:spPr>
        <p:txBody>
          <a:bodyPr wrap="none" lIns="0" tIns="0" rIns="0" bIns="0" rtlCol="0" anchor="t"/>
          <a:lstStyle/>
          <a:p>
            <a:pPr marL="0" indent="0" algn="l">
              <a:lnSpc>
                <a:spcPts val="1900"/>
              </a:lnSpc>
              <a:buNone/>
            </a:pPr>
            <a:r>
              <a:rPr lang="en-US" sz="1500" dirty="0">
                <a:solidFill>
                  <a:srgbClr val="DAD8E9"/>
                </a:solidFill>
                <a:latin typeface="Prompt Medium" pitchFamily="34" charset="0"/>
                <a:ea typeface="Prompt Medium" pitchFamily="34" charset="-122"/>
                <a:cs typeface="Prompt Medium" pitchFamily="34" charset="-120"/>
              </a:rPr>
              <a:t>Source Code Management</a:t>
            </a:r>
            <a:endParaRPr lang="en-US" sz="1500" dirty="0"/>
          </a:p>
        </p:txBody>
      </p:sp>
      <p:sp>
        <p:nvSpPr>
          <p:cNvPr id="6" name="Text 3"/>
          <p:cNvSpPr/>
          <p:nvPr/>
        </p:nvSpPr>
        <p:spPr>
          <a:xfrm>
            <a:off x="881063" y="2909411"/>
            <a:ext cx="6356985" cy="239554"/>
          </a:xfrm>
          <a:prstGeom prst="rect">
            <a:avLst/>
          </a:prstGeom>
          <a:noFill/>
          <a:ln/>
        </p:spPr>
        <p:txBody>
          <a:bodyPr wrap="none" lIns="0" tIns="0" rIns="0" bIns="0" rtlCol="0" anchor="t"/>
          <a:lstStyle/>
          <a:p>
            <a:pPr marL="0" indent="0" algn="l">
              <a:lnSpc>
                <a:spcPts val="1850"/>
              </a:lnSpc>
              <a:buNone/>
            </a:pPr>
            <a:r>
              <a:rPr lang="en-US" sz="1350" dirty="0">
                <a:solidFill>
                  <a:srgbClr val="DAD8E9"/>
                </a:solidFill>
                <a:latin typeface="Mukta Light" pitchFamily="34" charset="0"/>
                <a:ea typeface="Mukta Light" pitchFamily="34" charset="-122"/>
                <a:cs typeface="Mukta Light" pitchFamily="34" charset="-120"/>
              </a:rPr>
              <a:t>Advanced branching and pull requests for organized, conflict-free code integration.</a:t>
            </a:r>
            <a:endParaRPr lang="en-US" sz="135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92233" y="1995964"/>
            <a:ext cx="440531" cy="440531"/>
          </a:xfrm>
          <a:prstGeom prst="rect">
            <a:avLst/>
          </a:prstGeom>
        </p:spPr>
      </p:pic>
      <p:sp>
        <p:nvSpPr>
          <p:cNvPr id="8" name="Text 4"/>
          <p:cNvSpPr/>
          <p:nvPr/>
        </p:nvSpPr>
        <p:spPr>
          <a:xfrm>
            <a:off x="7392233" y="2590681"/>
            <a:ext cx="1958102" cy="244793"/>
          </a:xfrm>
          <a:prstGeom prst="rect">
            <a:avLst/>
          </a:prstGeom>
          <a:noFill/>
          <a:ln/>
        </p:spPr>
        <p:txBody>
          <a:bodyPr wrap="none" lIns="0" tIns="0" rIns="0" bIns="0" rtlCol="0" anchor="t"/>
          <a:lstStyle/>
          <a:p>
            <a:pPr marL="0" indent="0" algn="l">
              <a:lnSpc>
                <a:spcPts val="1900"/>
              </a:lnSpc>
              <a:buNone/>
            </a:pPr>
            <a:r>
              <a:rPr lang="en-US" sz="1500" dirty="0">
                <a:solidFill>
                  <a:srgbClr val="DAD8E9"/>
                </a:solidFill>
                <a:latin typeface="Prompt Medium" pitchFamily="34" charset="0"/>
                <a:ea typeface="Prompt Medium" pitchFamily="34" charset="-122"/>
                <a:cs typeface="Prompt Medium" pitchFamily="34" charset="-120"/>
              </a:rPr>
              <a:t>Collaboration</a:t>
            </a:r>
            <a:endParaRPr lang="en-US" sz="1500" dirty="0"/>
          </a:p>
        </p:txBody>
      </p:sp>
      <p:sp>
        <p:nvSpPr>
          <p:cNvPr id="9" name="Text 5"/>
          <p:cNvSpPr/>
          <p:nvPr/>
        </p:nvSpPr>
        <p:spPr>
          <a:xfrm>
            <a:off x="7392233" y="2909411"/>
            <a:ext cx="6357104" cy="239554"/>
          </a:xfrm>
          <a:prstGeom prst="rect">
            <a:avLst/>
          </a:prstGeom>
          <a:noFill/>
          <a:ln/>
        </p:spPr>
        <p:txBody>
          <a:bodyPr wrap="none" lIns="0" tIns="0" rIns="0" bIns="0" rtlCol="0" anchor="t"/>
          <a:lstStyle/>
          <a:p>
            <a:pPr marL="0" indent="0" algn="l">
              <a:lnSpc>
                <a:spcPts val="1850"/>
              </a:lnSpc>
              <a:buNone/>
            </a:pPr>
            <a:r>
              <a:rPr lang="en-US" sz="1350" dirty="0">
                <a:solidFill>
                  <a:srgbClr val="DAD8E9"/>
                </a:solidFill>
                <a:latin typeface="Mukta Light" pitchFamily="34" charset="0"/>
                <a:ea typeface="Mukta Light" pitchFamily="34" charset="-122"/>
                <a:cs typeface="Mukta Light" pitchFamily="34" charset="-120"/>
              </a:rPr>
              <a:t>Issues, discussions, and project boards keep teams aligned.</a:t>
            </a:r>
            <a:endParaRPr lang="en-US" sz="135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1063" y="3395663"/>
            <a:ext cx="440531" cy="440531"/>
          </a:xfrm>
          <a:prstGeom prst="rect">
            <a:avLst/>
          </a:prstGeom>
        </p:spPr>
      </p:pic>
      <p:sp>
        <p:nvSpPr>
          <p:cNvPr id="11" name="Text 6"/>
          <p:cNvSpPr/>
          <p:nvPr/>
        </p:nvSpPr>
        <p:spPr>
          <a:xfrm>
            <a:off x="881063" y="3990380"/>
            <a:ext cx="1958102" cy="244793"/>
          </a:xfrm>
          <a:prstGeom prst="rect">
            <a:avLst/>
          </a:prstGeom>
          <a:noFill/>
          <a:ln/>
        </p:spPr>
        <p:txBody>
          <a:bodyPr wrap="none" lIns="0" tIns="0" rIns="0" bIns="0" rtlCol="0" anchor="t"/>
          <a:lstStyle/>
          <a:p>
            <a:pPr marL="0" indent="0" algn="l">
              <a:lnSpc>
                <a:spcPts val="1900"/>
              </a:lnSpc>
              <a:buNone/>
            </a:pPr>
            <a:r>
              <a:rPr lang="en-US" sz="1500" dirty="0">
                <a:solidFill>
                  <a:srgbClr val="DAD8E9"/>
                </a:solidFill>
                <a:latin typeface="Prompt Medium" pitchFamily="34" charset="0"/>
                <a:ea typeface="Prompt Medium" pitchFamily="34" charset="-122"/>
                <a:cs typeface="Prompt Medium" pitchFamily="34" charset="-120"/>
              </a:rPr>
              <a:t>Integrations</a:t>
            </a:r>
            <a:endParaRPr lang="en-US" sz="1500" dirty="0"/>
          </a:p>
        </p:txBody>
      </p:sp>
      <p:sp>
        <p:nvSpPr>
          <p:cNvPr id="12" name="Text 7"/>
          <p:cNvSpPr/>
          <p:nvPr/>
        </p:nvSpPr>
        <p:spPr>
          <a:xfrm>
            <a:off x="881063" y="4309110"/>
            <a:ext cx="6356985" cy="239554"/>
          </a:xfrm>
          <a:prstGeom prst="rect">
            <a:avLst/>
          </a:prstGeom>
          <a:noFill/>
          <a:ln/>
        </p:spPr>
        <p:txBody>
          <a:bodyPr wrap="none" lIns="0" tIns="0" rIns="0" bIns="0" rtlCol="0" anchor="t"/>
          <a:lstStyle/>
          <a:p>
            <a:pPr marL="0" indent="0" algn="l">
              <a:lnSpc>
                <a:spcPts val="1850"/>
              </a:lnSpc>
              <a:buNone/>
            </a:pPr>
            <a:r>
              <a:rPr lang="en-US" sz="1350" dirty="0">
                <a:solidFill>
                  <a:srgbClr val="DAD8E9"/>
                </a:solidFill>
                <a:latin typeface="Mukta Light" pitchFamily="34" charset="0"/>
                <a:ea typeface="Mukta Light" pitchFamily="34" charset="-122"/>
                <a:cs typeface="Mukta Light" pitchFamily="34" charset="-120"/>
              </a:rPr>
              <a:t>Built-in CI/CD with GitHub Actions eliminates external tool complexity.</a:t>
            </a:r>
            <a:endParaRPr lang="en-US" sz="1350" dirty="0"/>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92233" y="3395663"/>
            <a:ext cx="440531" cy="440531"/>
          </a:xfrm>
          <a:prstGeom prst="rect">
            <a:avLst/>
          </a:prstGeom>
        </p:spPr>
      </p:pic>
      <p:sp>
        <p:nvSpPr>
          <p:cNvPr id="14" name="Text 8"/>
          <p:cNvSpPr/>
          <p:nvPr/>
        </p:nvSpPr>
        <p:spPr>
          <a:xfrm>
            <a:off x="7392233" y="3990380"/>
            <a:ext cx="1958102" cy="244793"/>
          </a:xfrm>
          <a:prstGeom prst="rect">
            <a:avLst/>
          </a:prstGeom>
          <a:noFill/>
          <a:ln/>
        </p:spPr>
        <p:txBody>
          <a:bodyPr wrap="none" lIns="0" tIns="0" rIns="0" bIns="0" rtlCol="0" anchor="t"/>
          <a:lstStyle/>
          <a:p>
            <a:pPr marL="0" indent="0" algn="l">
              <a:lnSpc>
                <a:spcPts val="1900"/>
              </a:lnSpc>
              <a:buNone/>
            </a:pPr>
            <a:r>
              <a:rPr lang="en-US" sz="1500" dirty="0">
                <a:solidFill>
                  <a:srgbClr val="DAD8E9"/>
                </a:solidFill>
                <a:latin typeface="Prompt Medium" pitchFamily="34" charset="0"/>
                <a:ea typeface="Prompt Medium" pitchFamily="34" charset="-122"/>
                <a:cs typeface="Prompt Medium" pitchFamily="34" charset="-120"/>
              </a:rPr>
              <a:t>Security</a:t>
            </a:r>
            <a:endParaRPr lang="en-US" sz="1500" dirty="0"/>
          </a:p>
        </p:txBody>
      </p:sp>
      <p:sp>
        <p:nvSpPr>
          <p:cNvPr id="15" name="Text 9"/>
          <p:cNvSpPr/>
          <p:nvPr/>
        </p:nvSpPr>
        <p:spPr>
          <a:xfrm>
            <a:off x="7392233" y="4309110"/>
            <a:ext cx="6357104" cy="239554"/>
          </a:xfrm>
          <a:prstGeom prst="rect">
            <a:avLst/>
          </a:prstGeom>
          <a:noFill/>
          <a:ln/>
        </p:spPr>
        <p:txBody>
          <a:bodyPr wrap="none" lIns="0" tIns="0" rIns="0" bIns="0" rtlCol="0" anchor="t"/>
          <a:lstStyle/>
          <a:p>
            <a:pPr marL="0" indent="0" algn="l">
              <a:lnSpc>
                <a:spcPts val="1850"/>
              </a:lnSpc>
              <a:buNone/>
            </a:pPr>
            <a:r>
              <a:rPr lang="en-US" sz="1350" dirty="0">
                <a:solidFill>
                  <a:srgbClr val="DAD8E9"/>
                </a:solidFill>
                <a:latin typeface="Mukta Light" pitchFamily="34" charset="0"/>
                <a:ea typeface="Mukta Light" pitchFamily="34" charset="-122"/>
                <a:cs typeface="Mukta Light" pitchFamily="34" charset="-120"/>
              </a:rPr>
              <a:t>Code scanning and policy enforcement protect your codebase proactively.</a:t>
            </a:r>
            <a:endParaRPr lang="en-US" sz="1350" dirty="0"/>
          </a:p>
        </p:txBody>
      </p:sp>
      <p:pic>
        <p:nvPicPr>
          <p:cNvPr id="1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1063" y="4795361"/>
            <a:ext cx="440531" cy="440531"/>
          </a:xfrm>
          <a:prstGeom prst="rect">
            <a:avLst/>
          </a:prstGeom>
        </p:spPr>
      </p:pic>
      <p:sp>
        <p:nvSpPr>
          <p:cNvPr id="17" name="Text 10"/>
          <p:cNvSpPr/>
          <p:nvPr/>
        </p:nvSpPr>
        <p:spPr>
          <a:xfrm>
            <a:off x="881063" y="5390078"/>
            <a:ext cx="1983462" cy="244793"/>
          </a:xfrm>
          <a:prstGeom prst="rect">
            <a:avLst/>
          </a:prstGeom>
          <a:noFill/>
          <a:ln/>
        </p:spPr>
        <p:txBody>
          <a:bodyPr wrap="none" lIns="0" tIns="0" rIns="0" bIns="0" rtlCol="0" anchor="t"/>
          <a:lstStyle/>
          <a:p>
            <a:pPr marL="0" indent="0" algn="l">
              <a:lnSpc>
                <a:spcPts val="1900"/>
              </a:lnSpc>
              <a:buNone/>
            </a:pPr>
            <a:r>
              <a:rPr lang="en-US" sz="1500" dirty="0">
                <a:solidFill>
                  <a:srgbClr val="DAD8E9"/>
                </a:solidFill>
                <a:latin typeface="Prompt Medium" pitchFamily="34" charset="0"/>
                <a:ea typeface="Prompt Medium" pitchFamily="34" charset="-122"/>
                <a:cs typeface="Prompt Medium" pitchFamily="34" charset="-120"/>
              </a:rPr>
              <a:t>Project Management</a:t>
            </a:r>
            <a:endParaRPr lang="en-US" sz="1500" dirty="0"/>
          </a:p>
        </p:txBody>
      </p:sp>
      <p:sp>
        <p:nvSpPr>
          <p:cNvPr id="18" name="Text 11"/>
          <p:cNvSpPr/>
          <p:nvPr/>
        </p:nvSpPr>
        <p:spPr>
          <a:xfrm>
            <a:off x="881063" y="5708809"/>
            <a:ext cx="6356985" cy="239554"/>
          </a:xfrm>
          <a:prstGeom prst="rect">
            <a:avLst/>
          </a:prstGeom>
          <a:noFill/>
          <a:ln/>
        </p:spPr>
        <p:txBody>
          <a:bodyPr wrap="none" lIns="0" tIns="0" rIns="0" bIns="0" rtlCol="0" anchor="t"/>
          <a:lstStyle/>
          <a:p>
            <a:pPr marL="0" indent="0" algn="l">
              <a:lnSpc>
                <a:spcPts val="1850"/>
              </a:lnSpc>
              <a:buNone/>
            </a:pPr>
            <a:r>
              <a:rPr lang="en-US" sz="1350" dirty="0">
                <a:solidFill>
                  <a:srgbClr val="DAD8E9"/>
                </a:solidFill>
                <a:latin typeface="Mukta Light" pitchFamily="34" charset="0"/>
                <a:ea typeface="Mukta Light" pitchFamily="34" charset="-122"/>
                <a:cs typeface="Mukta Light" pitchFamily="34" charset="-120"/>
              </a:rPr>
              <a:t>Organize work with automated workflows, milestones, and progress tracking.</a:t>
            </a:r>
            <a:endParaRPr lang="en-US" sz="1350" dirty="0"/>
          </a:p>
        </p:txBody>
      </p:sp>
      <p:pic>
        <p:nvPicPr>
          <p:cNvPr id="1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392233" y="4795361"/>
            <a:ext cx="440531" cy="440531"/>
          </a:xfrm>
          <a:prstGeom prst="rect">
            <a:avLst/>
          </a:prstGeom>
        </p:spPr>
      </p:pic>
      <p:sp>
        <p:nvSpPr>
          <p:cNvPr id="20" name="Text 12"/>
          <p:cNvSpPr/>
          <p:nvPr/>
        </p:nvSpPr>
        <p:spPr>
          <a:xfrm>
            <a:off x="7392233" y="5390078"/>
            <a:ext cx="1958102" cy="244793"/>
          </a:xfrm>
          <a:prstGeom prst="rect">
            <a:avLst/>
          </a:prstGeom>
          <a:noFill/>
          <a:ln/>
        </p:spPr>
        <p:txBody>
          <a:bodyPr wrap="none" lIns="0" tIns="0" rIns="0" bIns="0" rtlCol="0" anchor="t"/>
          <a:lstStyle/>
          <a:p>
            <a:pPr marL="0" indent="0" algn="l">
              <a:lnSpc>
                <a:spcPts val="1900"/>
              </a:lnSpc>
              <a:buNone/>
            </a:pPr>
            <a:r>
              <a:rPr lang="en-US" sz="1500" dirty="0">
                <a:solidFill>
                  <a:srgbClr val="DAD8E9"/>
                </a:solidFill>
                <a:latin typeface="Prompt Medium" pitchFamily="34" charset="0"/>
                <a:ea typeface="Prompt Medium" pitchFamily="34" charset="-122"/>
                <a:cs typeface="Prompt Medium" pitchFamily="34" charset="-120"/>
              </a:rPr>
              <a:t>Code Review</a:t>
            </a:r>
            <a:endParaRPr lang="en-US" sz="1500" dirty="0"/>
          </a:p>
        </p:txBody>
      </p:sp>
      <p:sp>
        <p:nvSpPr>
          <p:cNvPr id="21" name="Text 13"/>
          <p:cNvSpPr/>
          <p:nvPr/>
        </p:nvSpPr>
        <p:spPr>
          <a:xfrm>
            <a:off x="7392233" y="5708809"/>
            <a:ext cx="6357104" cy="239554"/>
          </a:xfrm>
          <a:prstGeom prst="rect">
            <a:avLst/>
          </a:prstGeom>
          <a:noFill/>
          <a:ln/>
        </p:spPr>
        <p:txBody>
          <a:bodyPr wrap="none" lIns="0" tIns="0" rIns="0" bIns="0" rtlCol="0" anchor="t"/>
          <a:lstStyle/>
          <a:p>
            <a:pPr marL="0" indent="0" algn="l">
              <a:lnSpc>
                <a:spcPts val="1850"/>
              </a:lnSpc>
              <a:buNone/>
            </a:pPr>
            <a:r>
              <a:rPr lang="en-US" sz="1350" dirty="0">
                <a:solidFill>
                  <a:srgbClr val="DAD8E9"/>
                </a:solidFill>
                <a:latin typeface="Mukta Light" pitchFamily="34" charset="0"/>
                <a:ea typeface="Mukta Light" pitchFamily="34" charset="-122"/>
                <a:cs typeface="Mukta Light" pitchFamily="34" charset="-120"/>
              </a:rPr>
              <a:t>Detailed pull request reviews with inline comments and approval workflows.</a:t>
            </a:r>
            <a:endParaRPr lang="en-US" sz="1350" dirty="0"/>
          </a:p>
        </p:txBody>
      </p:sp>
      <p:pic>
        <p:nvPicPr>
          <p:cNvPr id="22" name="Image 6"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81063" y="6195060"/>
            <a:ext cx="440531" cy="440531"/>
          </a:xfrm>
          <a:prstGeom prst="rect">
            <a:avLst/>
          </a:prstGeom>
        </p:spPr>
      </p:pic>
      <p:sp>
        <p:nvSpPr>
          <p:cNvPr id="23" name="Text 14"/>
          <p:cNvSpPr/>
          <p:nvPr/>
        </p:nvSpPr>
        <p:spPr>
          <a:xfrm>
            <a:off x="881063" y="6789777"/>
            <a:ext cx="2124789" cy="244793"/>
          </a:xfrm>
          <a:prstGeom prst="rect">
            <a:avLst/>
          </a:prstGeom>
          <a:noFill/>
          <a:ln/>
        </p:spPr>
        <p:txBody>
          <a:bodyPr wrap="none" lIns="0" tIns="0" rIns="0" bIns="0" rtlCol="0" anchor="t"/>
          <a:lstStyle/>
          <a:p>
            <a:pPr marL="0" indent="0" algn="l">
              <a:lnSpc>
                <a:spcPts val="1900"/>
              </a:lnSpc>
              <a:buNone/>
            </a:pPr>
            <a:r>
              <a:rPr lang="en-US" sz="1500" dirty="0">
                <a:solidFill>
                  <a:srgbClr val="DAD8E9"/>
                </a:solidFill>
                <a:latin typeface="Prompt Medium" pitchFamily="34" charset="0"/>
                <a:ea typeface="Prompt Medium" pitchFamily="34" charset="-122"/>
                <a:cs typeface="Prompt Medium" pitchFamily="34" charset="-120"/>
              </a:rPr>
              <a:t>Developer Experience</a:t>
            </a:r>
            <a:endParaRPr lang="en-US" sz="1500" dirty="0"/>
          </a:p>
        </p:txBody>
      </p:sp>
      <p:sp>
        <p:nvSpPr>
          <p:cNvPr id="24" name="Text 15"/>
          <p:cNvSpPr/>
          <p:nvPr/>
        </p:nvSpPr>
        <p:spPr>
          <a:xfrm>
            <a:off x="881063" y="7108508"/>
            <a:ext cx="6356985" cy="239554"/>
          </a:xfrm>
          <a:prstGeom prst="rect">
            <a:avLst/>
          </a:prstGeom>
          <a:noFill/>
          <a:ln/>
        </p:spPr>
        <p:txBody>
          <a:bodyPr wrap="none" lIns="0" tIns="0" rIns="0" bIns="0" rtlCol="0" anchor="t"/>
          <a:lstStyle/>
          <a:p>
            <a:pPr marL="0" indent="0" algn="l">
              <a:lnSpc>
                <a:spcPts val="1850"/>
              </a:lnSpc>
              <a:buNone/>
            </a:pPr>
            <a:r>
              <a:rPr lang="en-US" sz="1350" dirty="0">
                <a:solidFill>
                  <a:srgbClr val="DAD8E9"/>
                </a:solidFill>
                <a:latin typeface="Mukta Light" pitchFamily="34" charset="0"/>
                <a:ea typeface="Mukta Light" pitchFamily="34" charset="-122"/>
                <a:cs typeface="Mukta Light" pitchFamily="34" charset="-120"/>
              </a:rPr>
              <a:t>Intuitive interface and seamless IDE integrations for productive workflows.</a:t>
            </a:r>
            <a:endParaRPr lang="en-US" sz="1350" dirty="0"/>
          </a:p>
        </p:txBody>
      </p:sp>
      <p:pic>
        <p:nvPicPr>
          <p:cNvPr id="25" name="Image 7" descr="preencoded.png"/>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392233" y="6195060"/>
            <a:ext cx="440531" cy="440531"/>
          </a:xfrm>
          <a:prstGeom prst="rect">
            <a:avLst/>
          </a:prstGeom>
        </p:spPr>
      </p:pic>
      <p:sp>
        <p:nvSpPr>
          <p:cNvPr id="26" name="Text 16"/>
          <p:cNvSpPr/>
          <p:nvPr/>
        </p:nvSpPr>
        <p:spPr>
          <a:xfrm>
            <a:off x="7392233" y="6789777"/>
            <a:ext cx="1958102" cy="244793"/>
          </a:xfrm>
          <a:prstGeom prst="rect">
            <a:avLst/>
          </a:prstGeom>
          <a:noFill/>
          <a:ln/>
        </p:spPr>
        <p:txBody>
          <a:bodyPr wrap="none" lIns="0" tIns="0" rIns="0" bIns="0" rtlCol="0" anchor="t"/>
          <a:lstStyle/>
          <a:p>
            <a:pPr marL="0" indent="0" algn="l">
              <a:lnSpc>
                <a:spcPts val="1900"/>
              </a:lnSpc>
              <a:buNone/>
            </a:pPr>
            <a:r>
              <a:rPr lang="en-US" sz="1500" dirty="0">
                <a:solidFill>
                  <a:srgbClr val="DAD8E9"/>
                </a:solidFill>
                <a:latin typeface="Prompt Medium" pitchFamily="34" charset="0"/>
                <a:ea typeface="Prompt Medium" pitchFamily="34" charset="-122"/>
                <a:cs typeface="Prompt Medium" pitchFamily="34" charset="-120"/>
              </a:rPr>
              <a:t>Enterprise Features</a:t>
            </a:r>
            <a:endParaRPr lang="en-US" sz="1500" dirty="0"/>
          </a:p>
        </p:txBody>
      </p:sp>
      <p:sp>
        <p:nvSpPr>
          <p:cNvPr id="27" name="Text 17"/>
          <p:cNvSpPr/>
          <p:nvPr/>
        </p:nvSpPr>
        <p:spPr>
          <a:xfrm>
            <a:off x="7392233" y="7108508"/>
            <a:ext cx="6357104" cy="239554"/>
          </a:xfrm>
          <a:prstGeom prst="rect">
            <a:avLst/>
          </a:prstGeom>
          <a:noFill/>
          <a:ln/>
        </p:spPr>
        <p:txBody>
          <a:bodyPr wrap="none" lIns="0" tIns="0" rIns="0" bIns="0" rtlCol="0" anchor="t"/>
          <a:lstStyle/>
          <a:p>
            <a:pPr marL="0" indent="0" algn="l">
              <a:lnSpc>
                <a:spcPts val="1850"/>
              </a:lnSpc>
              <a:buNone/>
            </a:pPr>
            <a:r>
              <a:rPr lang="en-US" sz="1350" dirty="0">
                <a:solidFill>
                  <a:srgbClr val="DAD8E9"/>
                </a:solidFill>
                <a:latin typeface="Mukta Light" pitchFamily="34" charset="0"/>
                <a:ea typeface="Mukta Light" pitchFamily="34" charset="-122"/>
                <a:cs typeface="Mukta Light" pitchFamily="34" charset="-120"/>
              </a:rPr>
              <a:t>SSO, SAML, audit logs, and compliance controls for large organizations.</a:t>
            </a:r>
            <a:endParaRPr lang="en-US" sz="1350" dirty="0"/>
          </a:p>
        </p:txBody>
      </p:sp>
      <p:sp>
        <p:nvSpPr>
          <p:cNvPr id="28" name="Rectangle 27">
            <a:extLst>
              <a:ext uri="{FF2B5EF4-FFF2-40B4-BE49-F238E27FC236}">
                <a16:creationId xmlns:a16="http://schemas.microsoft.com/office/drawing/2014/main" id="{83AC43BB-930E-149A-D2BA-68E5A0ED1ABD}"/>
              </a:ext>
            </a:extLst>
          </p:cNvPr>
          <p:cNvSpPr/>
          <p:nvPr/>
        </p:nvSpPr>
        <p:spPr>
          <a:xfrm>
            <a:off x="12846205" y="7638587"/>
            <a:ext cx="1694985" cy="512956"/>
          </a:xfrm>
          <a:prstGeom prst="rect">
            <a:avLst/>
          </a:prstGeom>
          <a:solidFill>
            <a:srgbClr val="0A0B21"/>
          </a:solidFill>
          <a:ln>
            <a:solidFill>
              <a:srgbClr val="0A0B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F06CA5-DF9A-1FC0-A086-93AABB3268E6}"/>
              </a:ext>
            </a:extLst>
          </p:cNvPr>
          <p:cNvSpPr/>
          <p:nvPr/>
        </p:nvSpPr>
        <p:spPr>
          <a:xfrm>
            <a:off x="12820187" y="7155369"/>
            <a:ext cx="1694985" cy="512956"/>
          </a:xfrm>
          <a:prstGeom prst="rect">
            <a:avLst/>
          </a:prstGeom>
          <a:solidFill>
            <a:srgbClr val="0A0B21"/>
          </a:solidFill>
          <a:ln>
            <a:solidFill>
              <a:srgbClr val="0A0B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a:extLst>
              <a:ext uri="{FF2B5EF4-FFF2-40B4-BE49-F238E27FC236}">
                <a16:creationId xmlns:a16="http://schemas.microsoft.com/office/drawing/2014/main" id="{17E12C55-F032-4EA7-B4FF-44FF4D528EAB}"/>
              </a:ext>
            </a:extLst>
          </p:cNvPr>
          <p:cNvPicPr>
            <a:picLocks noChangeAspect="1"/>
          </p:cNvPicPr>
          <p:nvPr/>
        </p:nvPicPr>
        <p:blipFill>
          <a:blip r:embed="rId19">
            <a:lum bright="70000" contrast="-70000"/>
            <a:extLst>
              <a:ext uri="{BEBA8EAE-BF5A-486C-A8C5-ECC9F3942E4B}">
                <a14:imgProps xmlns:a14="http://schemas.microsoft.com/office/drawing/2010/main">
                  <a14:imgLayer r:embed="rId20">
                    <a14:imgEffect>
                      <a14:artisticPhotocopy/>
                    </a14:imgEffect>
                  </a14:imgLayer>
                </a14:imgProps>
              </a:ext>
            </a:extLst>
          </a:blip>
          <a:stretch>
            <a:fillRect/>
          </a:stretch>
        </p:blipFill>
        <p:spPr>
          <a:xfrm>
            <a:off x="13736248" y="7326351"/>
            <a:ext cx="914400" cy="914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74621" y="452414"/>
            <a:ext cx="7495461" cy="399574"/>
          </a:xfrm>
          <a:prstGeom prst="rect">
            <a:avLst/>
          </a:prstGeom>
          <a:noFill/>
          <a:ln/>
        </p:spPr>
        <p:txBody>
          <a:bodyPr wrap="none" lIns="0" tIns="0" rIns="0" bIns="0" rtlCol="0" anchor="t"/>
          <a:lstStyle/>
          <a:p>
            <a:pPr marL="0" indent="0" algn="l">
              <a:lnSpc>
                <a:spcPts val="3100"/>
              </a:lnSpc>
              <a:buNone/>
            </a:pPr>
            <a:r>
              <a:rPr lang="en-US" sz="2500" dirty="0">
                <a:solidFill>
                  <a:srgbClr val="C6BFEE"/>
                </a:solidFill>
                <a:latin typeface="Prompt Medium" pitchFamily="34" charset="0"/>
                <a:ea typeface="Prompt Medium" pitchFamily="34" charset="-122"/>
                <a:cs typeface="Prompt Medium" pitchFamily="34" charset="-120"/>
              </a:rPr>
              <a:t>The GitHub Workflow: From Code to Production</a:t>
            </a:r>
            <a:endParaRPr lang="en-US" sz="2500" dirty="0"/>
          </a:p>
        </p:txBody>
      </p:sp>
      <p:sp>
        <p:nvSpPr>
          <p:cNvPr id="3" name="Text 1"/>
          <p:cNvSpPr/>
          <p:nvPr/>
        </p:nvSpPr>
        <p:spPr>
          <a:xfrm>
            <a:off x="4013121" y="1491354"/>
            <a:ext cx="1598414" cy="199787"/>
          </a:xfrm>
          <a:prstGeom prst="rect">
            <a:avLst/>
          </a:prstGeom>
          <a:noFill/>
          <a:ln/>
        </p:spPr>
        <p:txBody>
          <a:bodyPr wrap="none" lIns="0" tIns="0" rIns="0" bIns="0" rtlCol="0" anchor="t"/>
          <a:lstStyle/>
          <a:p>
            <a:pPr marL="0" indent="0" algn="r">
              <a:lnSpc>
                <a:spcPts val="1550"/>
              </a:lnSpc>
              <a:buNone/>
            </a:pPr>
            <a:r>
              <a:rPr lang="en-US" sz="1250" dirty="0">
                <a:solidFill>
                  <a:srgbClr val="DAD8E9"/>
                </a:solidFill>
                <a:latin typeface="Prompt Medium" pitchFamily="34" charset="0"/>
                <a:ea typeface="Prompt Medium" pitchFamily="34" charset="-122"/>
                <a:cs typeface="Prompt Medium" pitchFamily="34" charset="-120"/>
              </a:rPr>
              <a:t>1) Commit</a:t>
            </a:r>
            <a:endParaRPr lang="en-US" sz="1250" dirty="0"/>
          </a:p>
        </p:txBody>
      </p:sp>
      <p:sp>
        <p:nvSpPr>
          <p:cNvPr id="4" name="Text 2"/>
          <p:cNvSpPr/>
          <p:nvPr/>
        </p:nvSpPr>
        <p:spPr>
          <a:xfrm>
            <a:off x="774621" y="1740433"/>
            <a:ext cx="4836914" cy="180737"/>
          </a:xfrm>
          <a:prstGeom prst="rect">
            <a:avLst/>
          </a:prstGeom>
          <a:noFill/>
          <a:ln/>
        </p:spPr>
        <p:txBody>
          <a:bodyPr wrap="none" lIns="0" tIns="0" rIns="0" bIns="0" rtlCol="0" anchor="t"/>
          <a:lstStyle/>
          <a:p>
            <a:pPr marL="0" indent="0" algn="r">
              <a:lnSpc>
                <a:spcPts val="1400"/>
              </a:lnSpc>
              <a:buNone/>
            </a:pPr>
            <a:r>
              <a:rPr lang="en-US" sz="1100" dirty="0">
                <a:solidFill>
                  <a:srgbClr val="DAD8E9"/>
                </a:solidFill>
                <a:latin typeface="Mukta Light" pitchFamily="34" charset="0"/>
                <a:ea typeface="Mukta Light" pitchFamily="34" charset="-122"/>
                <a:cs typeface="Mukta Light" pitchFamily="34" charset="-120"/>
              </a:rPr>
              <a:t>Developer commits code changes</a:t>
            </a:r>
            <a:endParaRPr lang="en-US" sz="1100" dirty="0"/>
          </a:p>
        </p:txBody>
      </p:sp>
      <p:pic>
        <p:nvPicPr>
          <p:cNvPr id="5" name="Image 0" descr="preencoded.png"/>
          <p:cNvPicPr>
            <a:picLocks noChangeAspect="1"/>
          </p:cNvPicPr>
          <p:nvPr/>
        </p:nvPicPr>
        <p:blipFill>
          <a:blip r:embed="rId3"/>
          <a:stretch>
            <a:fillRect/>
          </a:stretch>
        </p:blipFill>
        <p:spPr>
          <a:xfrm>
            <a:off x="5827276" y="1016294"/>
            <a:ext cx="2975848" cy="2975848"/>
          </a:xfrm>
          <a:prstGeom prst="rect">
            <a:avLst/>
          </a:prstGeom>
        </p:spPr>
      </p:pic>
      <p:sp>
        <p:nvSpPr>
          <p:cNvPr id="6" name="Text 3"/>
          <p:cNvSpPr/>
          <p:nvPr/>
        </p:nvSpPr>
        <p:spPr>
          <a:xfrm>
            <a:off x="6482715" y="1621608"/>
            <a:ext cx="215146" cy="268962"/>
          </a:xfrm>
          <a:prstGeom prst="rect">
            <a:avLst/>
          </a:prstGeom>
          <a:noFill/>
          <a:ln/>
        </p:spPr>
        <p:txBody>
          <a:bodyPr wrap="none" lIns="0" tIns="0" rIns="0" bIns="0" rtlCol="0" anchor="t"/>
          <a:lstStyle/>
          <a:p>
            <a:pPr marL="0" indent="0" algn="l">
              <a:lnSpc>
                <a:spcPts val="2100"/>
              </a:lnSpc>
              <a:buNone/>
            </a:pPr>
            <a:r>
              <a:rPr lang="en-US" sz="1650" dirty="0">
                <a:solidFill>
                  <a:srgbClr val="000000"/>
                </a:solidFill>
                <a:latin typeface="Prompt Medium" pitchFamily="34" charset="0"/>
                <a:ea typeface="Prompt Medium" pitchFamily="34" charset="-122"/>
                <a:cs typeface="Prompt Medium" pitchFamily="34" charset="-120"/>
              </a:rPr>
              <a:t>1</a:t>
            </a:r>
            <a:endParaRPr lang="en-US" sz="1650" dirty="0"/>
          </a:p>
        </p:txBody>
      </p:sp>
      <p:sp>
        <p:nvSpPr>
          <p:cNvPr id="7" name="Text 4"/>
          <p:cNvSpPr/>
          <p:nvPr/>
        </p:nvSpPr>
        <p:spPr>
          <a:xfrm>
            <a:off x="9018865" y="1225368"/>
            <a:ext cx="1598414" cy="199787"/>
          </a:xfrm>
          <a:prstGeom prst="rect">
            <a:avLst/>
          </a:prstGeom>
          <a:noFill/>
          <a:ln/>
        </p:spPr>
        <p:txBody>
          <a:bodyPr wrap="none" lIns="0" tIns="0" rIns="0" bIns="0" rtlCol="0" anchor="t"/>
          <a:lstStyle/>
          <a:p>
            <a:pPr marL="0" indent="0" algn="l">
              <a:lnSpc>
                <a:spcPts val="1550"/>
              </a:lnSpc>
              <a:buNone/>
            </a:pPr>
            <a:r>
              <a:rPr lang="en-US" sz="1250" dirty="0">
                <a:solidFill>
                  <a:srgbClr val="DAD8E9"/>
                </a:solidFill>
                <a:latin typeface="Prompt Medium" pitchFamily="34" charset="0"/>
                <a:ea typeface="Prompt Medium" pitchFamily="34" charset="-122"/>
                <a:cs typeface="Prompt Medium" pitchFamily="34" charset="-120"/>
              </a:rPr>
              <a:t>2) Branch</a:t>
            </a:r>
            <a:endParaRPr lang="en-US" sz="1250" dirty="0"/>
          </a:p>
        </p:txBody>
      </p:sp>
      <p:sp>
        <p:nvSpPr>
          <p:cNvPr id="8" name="Text 5"/>
          <p:cNvSpPr/>
          <p:nvPr/>
        </p:nvSpPr>
        <p:spPr>
          <a:xfrm>
            <a:off x="9018865" y="1474447"/>
            <a:ext cx="4836914" cy="180737"/>
          </a:xfrm>
          <a:prstGeom prst="rect">
            <a:avLst/>
          </a:prstGeom>
          <a:noFill/>
          <a:ln/>
        </p:spPr>
        <p:txBody>
          <a:bodyPr wrap="none" lIns="0" tIns="0" rIns="0" bIns="0" rtlCol="0" anchor="t"/>
          <a:lstStyle/>
          <a:p>
            <a:pPr marL="0" indent="0" algn="l">
              <a:lnSpc>
                <a:spcPts val="1400"/>
              </a:lnSpc>
              <a:buNone/>
            </a:pPr>
            <a:r>
              <a:rPr lang="en-US" sz="1100" dirty="0">
                <a:solidFill>
                  <a:srgbClr val="DAD8E9"/>
                </a:solidFill>
                <a:latin typeface="Mukta Light" pitchFamily="34" charset="0"/>
                <a:ea typeface="Mukta Light" pitchFamily="34" charset="-122"/>
                <a:cs typeface="Mukta Light" pitchFamily="34" charset="-120"/>
              </a:rPr>
              <a:t>Create feature branches for isolated development</a:t>
            </a:r>
            <a:endParaRPr lang="en-US" sz="1100" dirty="0"/>
          </a:p>
        </p:txBody>
      </p:sp>
      <p:pic>
        <p:nvPicPr>
          <p:cNvPr id="9" name="Image 1" descr="preencoded.png"/>
          <p:cNvPicPr>
            <a:picLocks noChangeAspect="1"/>
          </p:cNvPicPr>
          <p:nvPr/>
        </p:nvPicPr>
        <p:blipFill>
          <a:blip r:embed="rId4"/>
          <a:stretch>
            <a:fillRect/>
          </a:stretch>
        </p:blipFill>
        <p:spPr>
          <a:xfrm>
            <a:off x="5827276" y="1016294"/>
            <a:ext cx="2975848" cy="2975848"/>
          </a:xfrm>
          <a:prstGeom prst="rect">
            <a:avLst/>
          </a:prstGeom>
        </p:spPr>
      </p:pic>
      <p:sp>
        <p:nvSpPr>
          <p:cNvPr id="10" name="Text 6"/>
          <p:cNvSpPr/>
          <p:nvPr/>
        </p:nvSpPr>
        <p:spPr>
          <a:xfrm>
            <a:off x="7694890" y="1449087"/>
            <a:ext cx="215146" cy="268962"/>
          </a:xfrm>
          <a:prstGeom prst="rect">
            <a:avLst/>
          </a:prstGeom>
          <a:noFill/>
          <a:ln/>
        </p:spPr>
        <p:txBody>
          <a:bodyPr wrap="none" lIns="0" tIns="0" rIns="0" bIns="0" rtlCol="0" anchor="t"/>
          <a:lstStyle/>
          <a:p>
            <a:pPr marL="0" indent="0" algn="l">
              <a:lnSpc>
                <a:spcPts val="2100"/>
              </a:lnSpc>
              <a:buNone/>
            </a:pPr>
            <a:r>
              <a:rPr lang="en-US" sz="1650" dirty="0">
                <a:solidFill>
                  <a:srgbClr val="000000"/>
                </a:solidFill>
                <a:latin typeface="Prompt Medium" pitchFamily="34" charset="0"/>
                <a:ea typeface="Prompt Medium" pitchFamily="34" charset="-122"/>
                <a:cs typeface="Prompt Medium" pitchFamily="34" charset="-120"/>
              </a:rPr>
              <a:t>2</a:t>
            </a:r>
            <a:endParaRPr lang="en-US" sz="1650" dirty="0"/>
          </a:p>
        </p:txBody>
      </p:sp>
      <p:sp>
        <p:nvSpPr>
          <p:cNvPr id="11" name="Text 7"/>
          <p:cNvSpPr/>
          <p:nvPr/>
        </p:nvSpPr>
        <p:spPr>
          <a:xfrm>
            <a:off x="9090779" y="2289192"/>
            <a:ext cx="1598414" cy="199787"/>
          </a:xfrm>
          <a:prstGeom prst="rect">
            <a:avLst/>
          </a:prstGeom>
          <a:noFill/>
          <a:ln/>
        </p:spPr>
        <p:txBody>
          <a:bodyPr wrap="none" lIns="0" tIns="0" rIns="0" bIns="0" rtlCol="0" anchor="t"/>
          <a:lstStyle/>
          <a:p>
            <a:pPr marL="0" indent="0" algn="l">
              <a:lnSpc>
                <a:spcPts val="1550"/>
              </a:lnSpc>
              <a:buNone/>
            </a:pPr>
            <a:r>
              <a:rPr lang="en-US" sz="1250" dirty="0">
                <a:solidFill>
                  <a:srgbClr val="DAD8E9"/>
                </a:solidFill>
                <a:latin typeface="Prompt Medium" pitchFamily="34" charset="0"/>
                <a:ea typeface="Prompt Medium" pitchFamily="34" charset="-122"/>
                <a:cs typeface="Prompt Medium" pitchFamily="34" charset="-120"/>
              </a:rPr>
              <a:t>3) Pull Request</a:t>
            </a:r>
            <a:endParaRPr lang="en-US" sz="1250" dirty="0"/>
          </a:p>
        </p:txBody>
      </p:sp>
      <p:sp>
        <p:nvSpPr>
          <p:cNvPr id="12" name="Text 8"/>
          <p:cNvSpPr/>
          <p:nvPr/>
        </p:nvSpPr>
        <p:spPr>
          <a:xfrm>
            <a:off x="9090779" y="2538270"/>
            <a:ext cx="4765000" cy="180737"/>
          </a:xfrm>
          <a:prstGeom prst="rect">
            <a:avLst/>
          </a:prstGeom>
          <a:noFill/>
          <a:ln/>
        </p:spPr>
        <p:txBody>
          <a:bodyPr wrap="none" lIns="0" tIns="0" rIns="0" bIns="0" rtlCol="0" anchor="t"/>
          <a:lstStyle/>
          <a:p>
            <a:pPr marL="0" indent="0" algn="l">
              <a:lnSpc>
                <a:spcPts val="1400"/>
              </a:lnSpc>
              <a:buNone/>
            </a:pPr>
            <a:r>
              <a:rPr lang="en-US" sz="1100" dirty="0">
                <a:solidFill>
                  <a:srgbClr val="DAD8E9"/>
                </a:solidFill>
                <a:latin typeface="Mukta Light" pitchFamily="34" charset="0"/>
                <a:ea typeface="Mukta Light" pitchFamily="34" charset="-122"/>
                <a:cs typeface="Mukta Light" pitchFamily="34" charset="-120"/>
              </a:rPr>
              <a:t>Propose changes with full context and discussion</a:t>
            </a:r>
            <a:endParaRPr lang="en-US" sz="1100" dirty="0"/>
          </a:p>
        </p:txBody>
      </p:sp>
      <p:pic>
        <p:nvPicPr>
          <p:cNvPr id="13" name="Image 2" descr="preencoded.png"/>
          <p:cNvPicPr>
            <a:picLocks noChangeAspect="1"/>
          </p:cNvPicPr>
          <p:nvPr/>
        </p:nvPicPr>
        <p:blipFill>
          <a:blip r:embed="rId5"/>
          <a:stretch>
            <a:fillRect/>
          </a:stretch>
        </p:blipFill>
        <p:spPr>
          <a:xfrm>
            <a:off x="5827276" y="1016294"/>
            <a:ext cx="2975848" cy="2975848"/>
          </a:xfrm>
          <a:prstGeom prst="rect">
            <a:avLst/>
          </a:prstGeom>
        </p:spPr>
      </p:pic>
      <p:sp>
        <p:nvSpPr>
          <p:cNvPr id="14" name="Text 9"/>
          <p:cNvSpPr/>
          <p:nvPr/>
        </p:nvSpPr>
        <p:spPr>
          <a:xfrm>
            <a:off x="8233529" y="2548748"/>
            <a:ext cx="215146" cy="268962"/>
          </a:xfrm>
          <a:prstGeom prst="rect">
            <a:avLst/>
          </a:prstGeom>
          <a:noFill/>
          <a:ln/>
        </p:spPr>
        <p:txBody>
          <a:bodyPr wrap="none" lIns="0" tIns="0" rIns="0" bIns="0" rtlCol="0" anchor="t"/>
          <a:lstStyle/>
          <a:p>
            <a:pPr marL="0" indent="0" algn="l">
              <a:lnSpc>
                <a:spcPts val="2100"/>
              </a:lnSpc>
              <a:buNone/>
            </a:pPr>
            <a:r>
              <a:rPr lang="en-US" sz="1650" dirty="0">
                <a:solidFill>
                  <a:srgbClr val="000000"/>
                </a:solidFill>
                <a:latin typeface="Prompt Medium" pitchFamily="34" charset="0"/>
                <a:ea typeface="Prompt Medium" pitchFamily="34" charset="-122"/>
                <a:cs typeface="Prompt Medium" pitchFamily="34" charset="-120"/>
              </a:rPr>
              <a:t>3</a:t>
            </a:r>
            <a:endParaRPr lang="en-US" sz="1650" dirty="0"/>
          </a:p>
        </p:txBody>
      </p:sp>
      <p:sp>
        <p:nvSpPr>
          <p:cNvPr id="15" name="Text 10"/>
          <p:cNvSpPr/>
          <p:nvPr/>
        </p:nvSpPr>
        <p:spPr>
          <a:xfrm>
            <a:off x="9018865" y="3353134"/>
            <a:ext cx="2008942" cy="199787"/>
          </a:xfrm>
          <a:prstGeom prst="rect">
            <a:avLst/>
          </a:prstGeom>
          <a:noFill/>
          <a:ln/>
        </p:spPr>
        <p:txBody>
          <a:bodyPr wrap="none" lIns="0" tIns="0" rIns="0" bIns="0" rtlCol="0" anchor="t"/>
          <a:lstStyle/>
          <a:p>
            <a:pPr marL="0" indent="0" algn="l">
              <a:lnSpc>
                <a:spcPts val="1550"/>
              </a:lnSpc>
              <a:buNone/>
            </a:pPr>
            <a:r>
              <a:rPr lang="en-US" sz="1250" dirty="0">
                <a:solidFill>
                  <a:srgbClr val="DAD8E9"/>
                </a:solidFill>
                <a:latin typeface="Prompt Medium" pitchFamily="34" charset="0"/>
                <a:ea typeface="Prompt Medium" pitchFamily="34" charset="-122"/>
                <a:cs typeface="Prompt Medium" pitchFamily="34" charset="-120"/>
              </a:rPr>
              <a:t>4) GitHub Actions (CI/CD)</a:t>
            </a:r>
            <a:endParaRPr lang="en-US" sz="1250" dirty="0"/>
          </a:p>
        </p:txBody>
      </p:sp>
      <p:sp>
        <p:nvSpPr>
          <p:cNvPr id="16" name="Text 11"/>
          <p:cNvSpPr/>
          <p:nvPr/>
        </p:nvSpPr>
        <p:spPr>
          <a:xfrm>
            <a:off x="9018865" y="3602213"/>
            <a:ext cx="4836914" cy="180737"/>
          </a:xfrm>
          <a:prstGeom prst="rect">
            <a:avLst/>
          </a:prstGeom>
          <a:noFill/>
          <a:ln/>
        </p:spPr>
        <p:txBody>
          <a:bodyPr wrap="none" lIns="0" tIns="0" rIns="0" bIns="0" rtlCol="0" anchor="t"/>
          <a:lstStyle/>
          <a:p>
            <a:pPr marL="0" indent="0" algn="l">
              <a:lnSpc>
                <a:spcPts val="1400"/>
              </a:lnSpc>
              <a:buNone/>
            </a:pPr>
            <a:r>
              <a:rPr lang="en-US" sz="1100" dirty="0">
                <a:solidFill>
                  <a:srgbClr val="DAD8E9"/>
                </a:solidFill>
                <a:latin typeface="Mukta Light" pitchFamily="34" charset="0"/>
                <a:ea typeface="Mukta Light" pitchFamily="34" charset="-122"/>
                <a:cs typeface="Mukta Light" pitchFamily="34" charset="-120"/>
              </a:rPr>
              <a:t>Automated tests on BrowserStack &amp; quality checks</a:t>
            </a:r>
            <a:endParaRPr lang="en-US" sz="1100" dirty="0"/>
          </a:p>
        </p:txBody>
      </p:sp>
      <p:pic>
        <p:nvPicPr>
          <p:cNvPr id="17" name="Image 3" descr="preencoded.png"/>
          <p:cNvPicPr>
            <a:picLocks noChangeAspect="1"/>
          </p:cNvPicPr>
          <p:nvPr/>
        </p:nvPicPr>
        <p:blipFill>
          <a:blip r:embed="rId6"/>
          <a:stretch>
            <a:fillRect/>
          </a:stretch>
        </p:blipFill>
        <p:spPr>
          <a:xfrm>
            <a:off x="5827276" y="1016294"/>
            <a:ext cx="2975848" cy="2975848"/>
          </a:xfrm>
          <a:prstGeom prst="rect">
            <a:avLst/>
          </a:prstGeom>
        </p:spPr>
      </p:pic>
      <p:sp>
        <p:nvSpPr>
          <p:cNvPr id="18" name="Text 12"/>
          <p:cNvSpPr/>
          <p:nvPr/>
        </p:nvSpPr>
        <p:spPr>
          <a:xfrm>
            <a:off x="7354253" y="3400759"/>
            <a:ext cx="215146" cy="268962"/>
          </a:xfrm>
          <a:prstGeom prst="rect">
            <a:avLst/>
          </a:prstGeom>
          <a:noFill/>
          <a:ln/>
        </p:spPr>
        <p:txBody>
          <a:bodyPr wrap="none" lIns="0" tIns="0" rIns="0" bIns="0" rtlCol="0" anchor="t"/>
          <a:lstStyle/>
          <a:p>
            <a:pPr marL="0" indent="0" algn="l">
              <a:lnSpc>
                <a:spcPts val="2100"/>
              </a:lnSpc>
              <a:buNone/>
            </a:pPr>
            <a:r>
              <a:rPr lang="en-US" sz="1650" dirty="0">
                <a:solidFill>
                  <a:srgbClr val="000000"/>
                </a:solidFill>
                <a:latin typeface="Prompt Medium" pitchFamily="34" charset="0"/>
                <a:ea typeface="Prompt Medium" pitchFamily="34" charset="-122"/>
                <a:cs typeface="Prompt Medium" pitchFamily="34" charset="-120"/>
              </a:rPr>
              <a:t>4</a:t>
            </a:r>
            <a:endParaRPr lang="en-US" sz="1650" dirty="0"/>
          </a:p>
        </p:txBody>
      </p:sp>
      <p:sp>
        <p:nvSpPr>
          <p:cNvPr id="19" name="Text 13"/>
          <p:cNvSpPr/>
          <p:nvPr/>
        </p:nvSpPr>
        <p:spPr>
          <a:xfrm>
            <a:off x="4013121" y="3087149"/>
            <a:ext cx="1598414" cy="199787"/>
          </a:xfrm>
          <a:prstGeom prst="rect">
            <a:avLst/>
          </a:prstGeom>
          <a:noFill/>
          <a:ln/>
        </p:spPr>
        <p:txBody>
          <a:bodyPr wrap="none" lIns="0" tIns="0" rIns="0" bIns="0" rtlCol="0" anchor="t"/>
          <a:lstStyle/>
          <a:p>
            <a:pPr marL="0" indent="0" algn="r">
              <a:lnSpc>
                <a:spcPts val="1550"/>
              </a:lnSpc>
              <a:buNone/>
            </a:pPr>
            <a:r>
              <a:rPr lang="en-US" sz="1250" dirty="0">
                <a:solidFill>
                  <a:srgbClr val="DAD8E9"/>
                </a:solidFill>
                <a:latin typeface="Prompt Medium" pitchFamily="34" charset="0"/>
                <a:ea typeface="Prompt Medium" pitchFamily="34" charset="-122"/>
                <a:cs typeface="Prompt Medium" pitchFamily="34" charset="-120"/>
              </a:rPr>
              <a:t>5) Merge</a:t>
            </a:r>
            <a:endParaRPr lang="en-US" sz="1250" dirty="0"/>
          </a:p>
        </p:txBody>
      </p:sp>
      <p:sp>
        <p:nvSpPr>
          <p:cNvPr id="20" name="Text 14"/>
          <p:cNvSpPr/>
          <p:nvPr/>
        </p:nvSpPr>
        <p:spPr>
          <a:xfrm>
            <a:off x="774621" y="3336227"/>
            <a:ext cx="4836914" cy="180737"/>
          </a:xfrm>
          <a:prstGeom prst="rect">
            <a:avLst/>
          </a:prstGeom>
          <a:noFill/>
          <a:ln/>
        </p:spPr>
        <p:txBody>
          <a:bodyPr wrap="none" lIns="0" tIns="0" rIns="0" bIns="0" rtlCol="0" anchor="t"/>
          <a:lstStyle/>
          <a:p>
            <a:pPr marL="0" indent="0" algn="r">
              <a:lnSpc>
                <a:spcPts val="1400"/>
              </a:lnSpc>
              <a:buNone/>
            </a:pPr>
            <a:r>
              <a:rPr lang="en-US" sz="1100" dirty="0">
                <a:solidFill>
                  <a:srgbClr val="DAD8E9"/>
                </a:solidFill>
                <a:latin typeface="Mukta Light" pitchFamily="34" charset="0"/>
                <a:ea typeface="Mukta Light" pitchFamily="34" charset="-122"/>
                <a:cs typeface="Mukta Light" pitchFamily="34" charset="-120"/>
              </a:rPr>
              <a:t>Integrate code into main branch</a:t>
            </a:r>
            <a:endParaRPr lang="en-US" sz="1100" dirty="0"/>
          </a:p>
        </p:txBody>
      </p:sp>
      <p:pic>
        <p:nvPicPr>
          <p:cNvPr id="21" name="Image 4" descr="preencoded.png"/>
          <p:cNvPicPr>
            <a:picLocks noChangeAspect="1"/>
          </p:cNvPicPr>
          <p:nvPr/>
        </p:nvPicPr>
        <p:blipFill>
          <a:blip r:embed="rId7"/>
          <a:stretch>
            <a:fillRect/>
          </a:stretch>
        </p:blipFill>
        <p:spPr>
          <a:xfrm>
            <a:off x="5827276" y="1016294"/>
            <a:ext cx="2975848" cy="2975848"/>
          </a:xfrm>
          <a:prstGeom prst="rect">
            <a:avLst/>
          </a:prstGeom>
        </p:spPr>
      </p:pic>
      <p:sp>
        <p:nvSpPr>
          <p:cNvPr id="22" name="Text 15"/>
          <p:cNvSpPr/>
          <p:nvPr/>
        </p:nvSpPr>
        <p:spPr>
          <a:xfrm>
            <a:off x="6272213" y="2827830"/>
            <a:ext cx="215146" cy="268962"/>
          </a:xfrm>
          <a:prstGeom prst="rect">
            <a:avLst/>
          </a:prstGeom>
          <a:noFill/>
          <a:ln/>
        </p:spPr>
        <p:txBody>
          <a:bodyPr wrap="none" lIns="0" tIns="0" rIns="0" bIns="0" rtlCol="0" anchor="t"/>
          <a:lstStyle/>
          <a:p>
            <a:pPr marL="0" indent="0" algn="l">
              <a:lnSpc>
                <a:spcPts val="2100"/>
              </a:lnSpc>
              <a:buNone/>
            </a:pPr>
            <a:r>
              <a:rPr lang="en-US" sz="1650" dirty="0">
                <a:solidFill>
                  <a:srgbClr val="000000"/>
                </a:solidFill>
                <a:latin typeface="Prompt Medium" pitchFamily="34" charset="0"/>
                <a:ea typeface="Prompt Medium" pitchFamily="34" charset="-122"/>
                <a:cs typeface="Prompt Medium" pitchFamily="34" charset="-120"/>
              </a:rPr>
              <a:t>5</a:t>
            </a:r>
            <a:endParaRPr lang="en-US" sz="1650" dirty="0"/>
          </a:p>
        </p:txBody>
      </p:sp>
      <p:sp>
        <p:nvSpPr>
          <p:cNvPr id="23" name="Text 16"/>
          <p:cNvSpPr/>
          <p:nvPr/>
        </p:nvSpPr>
        <p:spPr>
          <a:xfrm>
            <a:off x="774621" y="4196045"/>
            <a:ext cx="13081159" cy="180737"/>
          </a:xfrm>
          <a:prstGeom prst="rect">
            <a:avLst/>
          </a:prstGeom>
          <a:noFill/>
          <a:ln/>
        </p:spPr>
        <p:txBody>
          <a:bodyPr wrap="none" lIns="0" tIns="0" rIns="0" bIns="0" rtlCol="0" anchor="t"/>
          <a:lstStyle/>
          <a:p>
            <a:pPr marL="0" indent="0" algn="l">
              <a:lnSpc>
                <a:spcPts val="1400"/>
              </a:lnSpc>
              <a:buNone/>
            </a:pPr>
            <a:r>
              <a:rPr lang="en-US" sz="1300" dirty="0">
                <a:solidFill>
                  <a:srgbClr val="DAD8E9"/>
                </a:solidFill>
                <a:latin typeface="Mukta Light" pitchFamily="34" charset="0"/>
                <a:ea typeface="Mukta Light" pitchFamily="34" charset="-122"/>
                <a:cs typeface="Mukta Light" pitchFamily="34" charset="-120"/>
              </a:rPr>
              <a:t>Distributed engineering team releases new feature with automated CI/CD &amp; quality checks.</a:t>
            </a:r>
            <a:endParaRPr lang="en-US" sz="1300" dirty="0"/>
          </a:p>
        </p:txBody>
      </p:sp>
      <p:sp>
        <p:nvSpPr>
          <p:cNvPr id="24" name="Text 17"/>
          <p:cNvSpPr/>
          <p:nvPr/>
        </p:nvSpPr>
        <p:spPr>
          <a:xfrm>
            <a:off x="774621" y="4533466"/>
            <a:ext cx="1918097" cy="239673"/>
          </a:xfrm>
          <a:prstGeom prst="rect">
            <a:avLst/>
          </a:prstGeom>
          <a:noFill/>
          <a:ln/>
        </p:spPr>
        <p:txBody>
          <a:bodyPr wrap="none" lIns="0" tIns="0" rIns="0" bIns="0" rtlCol="0" anchor="t"/>
          <a:lstStyle/>
          <a:p>
            <a:pPr marL="0" indent="0" algn="l">
              <a:lnSpc>
                <a:spcPts val="1850"/>
              </a:lnSpc>
              <a:buNone/>
            </a:pPr>
            <a:r>
              <a:rPr lang="en-US" sz="1900" dirty="0">
                <a:solidFill>
                  <a:srgbClr val="C6BFEE"/>
                </a:solidFill>
                <a:latin typeface="Prompt Medium" pitchFamily="34" charset="0"/>
                <a:ea typeface="Prompt Medium" pitchFamily="34" charset="-122"/>
                <a:cs typeface="Prompt Medium" pitchFamily="34" charset="-120"/>
              </a:rPr>
              <a:t>Metric Callouts</a:t>
            </a:r>
            <a:endParaRPr lang="en-US" sz="1900" dirty="0"/>
          </a:p>
        </p:txBody>
      </p:sp>
      <p:pic>
        <p:nvPicPr>
          <p:cNvPr id="25" name="Image 5"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8556" y="4889503"/>
            <a:ext cx="215741" cy="215741"/>
          </a:xfrm>
          <a:prstGeom prst="rect">
            <a:avLst/>
          </a:prstGeom>
        </p:spPr>
      </p:pic>
      <p:sp>
        <p:nvSpPr>
          <p:cNvPr id="26" name="Text 18"/>
          <p:cNvSpPr/>
          <p:nvPr/>
        </p:nvSpPr>
        <p:spPr>
          <a:xfrm>
            <a:off x="1242060" y="4885217"/>
            <a:ext cx="1794986" cy="199787"/>
          </a:xfrm>
          <a:prstGeom prst="rect">
            <a:avLst/>
          </a:prstGeom>
          <a:noFill/>
          <a:ln/>
        </p:spPr>
        <p:txBody>
          <a:bodyPr wrap="none" lIns="0" tIns="0" rIns="0" bIns="0" rtlCol="0" anchor="t"/>
          <a:lstStyle/>
          <a:p>
            <a:pPr marL="0" indent="0" algn="l">
              <a:lnSpc>
                <a:spcPts val="1550"/>
              </a:lnSpc>
              <a:buNone/>
            </a:pPr>
            <a:r>
              <a:rPr lang="en-US" sz="1250" dirty="0">
                <a:solidFill>
                  <a:srgbClr val="DAD8E9"/>
                </a:solidFill>
                <a:latin typeface="Prompt Medium" pitchFamily="34" charset="0"/>
                <a:ea typeface="Prompt Medium" pitchFamily="34" charset="-122"/>
                <a:cs typeface="Prompt Medium" pitchFamily="34" charset="-120"/>
              </a:rPr>
              <a:t>Faster Feedback Loops</a:t>
            </a:r>
            <a:endParaRPr lang="en-US" sz="1250" dirty="0"/>
          </a:p>
        </p:txBody>
      </p:sp>
      <p:sp>
        <p:nvSpPr>
          <p:cNvPr id="27" name="Text 19"/>
          <p:cNvSpPr/>
          <p:nvPr/>
        </p:nvSpPr>
        <p:spPr>
          <a:xfrm>
            <a:off x="1242060" y="5134296"/>
            <a:ext cx="3824407" cy="180737"/>
          </a:xfrm>
          <a:prstGeom prst="rect">
            <a:avLst/>
          </a:prstGeom>
          <a:noFill/>
          <a:ln/>
        </p:spPr>
        <p:txBody>
          <a:bodyPr wrap="none" lIns="0" tIns="0" rIns="0" bIns="0" rtlCol="0" anchor="t"/>
          <a:lstStyle/>
          <a:p>
            <a:pPr marL="0" indent="0" algn="l">
              <a:lnSpc>
                <a:spcPts val="1400"/>
              </a:lnSpc>
              <a:buNone/>
            </a:pPr>
            <a:r>
              <a:rPr lang="en-US" sz="1100" dirty="0">
                <a:solidFill>
                  <a:srgbClr val="DAD8E9"/>
                </a:solidFill>
                <a:latin typeface="Mukta Light" pitchFamily="34" charset="0"/>
                <a:ea typeface="Mukta Light" pitchFamily="34" charset="-122"/>
                <a:cs typeface="Mukta Light" pitchFamily="34" charset="-120"/>
              </a:rPr>
              <a:t>Streamlined review and integration</a:t>
            </a:r>
            <a:endParaRPr lang="en-US" sz="1100" dirty="0"/>
          </a:p>
        </p:txBody>
      </p:sp>
      <p:pic>
        <p:nvPicPr>
          <p:cNvPr id="28" name="Image 6"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23153" y="4889503"/>
            <a:ext cx="215741" cy="215741"/>
          </a:xfrm>
          <a:prstGeom prst="rect">
            <a:avLst/>
          </a:prstGeom>
        </p:spPr>
      </p:pic>
      <p:sp>
        <p:nvSpPr>
          <p:cNvPr id="29" name="Text 20"/>
          <p:cNvSpPr/>
          <p:nvPr/>
        </p:nvSpPr>
        <p:spPr>
          <a:xfrm>
            <a:off x="5636657" y="4885217"/>
            <a:ext cx="1766173" cy="199787"/>
          </a:xfrm>
          <a:prstGeom prst="rect">
            <a:avLst/>
          </a:prstGeom>
          <a:noFill/>
          <a:ln/>
        </p:spPr>
        <p:txBody>
          <a:bodyPr wrap="none" lIns="0" tIns="0" rIns="0" bIns="0" rtlCol="0" anchor="t"/>
          <a:lstStyle/>
          <a:p>
            <a:pPr marL="0" indent="0" algn="l">
              <a:lnSpc>
                <a:spcPts val="1550"/>
              </a:lnSpc>
              <a:buNone/>
            </a:pPr>
            <a:r>
              <a:rPr lang="en-US" sz="1250" dirty="0">
                <a:solidFill>
                  <a:srgbClr val="DAD8E9"/>
                </a:solidFill>
                <a:latin typeface="Prompt Medium" pitchFamily="34" charset="0"/>
                <a:ea typeface="Prompt Medium" pitchFamily="34" charset="-122"/>
                <a:cs typeface="Prompt Medium" pitchFamily="34" charset="-120"/>
              </a:rPr>
              <a:t>Less Manual Overhead</a:t>
            </a:r>
            <a:endParaRPr lang="en-US" sz="1250" dirty="0"/>
          </a:p>
        </p:txBody>
      </p:sp>
      <p:sp>
        <p:nvSpPr>
          <p:cNvPr id="30" name="Text 21"/>
          <p:cNvSpPr/>
          <p:nvPr/>
        </p:nvSpPr>
        <p:spPr>
          <a:xfrm>
            <a:off x="5636657" y="5134296"/>
            <a:ext cx="3824407" cy="180737"/>
          </a:xfrm>
          <a:prstGeom prst="rect">
            <a:avLst/>
          </a:prstGeom>
          <a:noFill/>
          <a:ln/>
        </p:spPr>
        <p:txBody>
          <a:bodyPr wrap="none" lIns="0" tIns="0" rIns="0" bIns="0" rtlCol="0" anchor="t"/>
          <a:lstStyle/>
          <a:p>
            <a:pPr marL="0" indent="0" algn="l">
              <a:lnSpc>
                <a:spcPts val="1400"/>
              </a:lnSpc>
              <a:buNone/>
            </a:pPr>
            <a:r>
              <a:rPr lang="en-US" sz="1100" dirty="0">
                <a:solidFill>
                  <a:srgbClr val="DAD8E9"/>
                </a:solidFill>
                <a:latin typeface="Mukta Light" pitchFamily="34" charset="0"/>
                <a:ea typeface="Mukta Light" pitchFamily="34" charset="-122"/>
                <a:cs typeface="Mukta Light" pitchFamily="34" charset="-120"/>
              </a:rPr>
              <a:t>Automated tasks and workflows</a:t>
            </a:r>
            <a:endParaRPr lang="en-US" sz="1100" dirty="0"/>
          </a:p>
        </p:txBody>
      </p:sp>
      <p:pic>
        <p:nvPicPr>
          <p:cNvPr id="31" name="Image 7"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617750" y="4889503"/>
            <a:ext cx="215741" cy="215741"/>
          </a:xfrm>
          <a:prstGeom prst="rect">
            <a:avLst/>
          </a:prstGeom>
        </p:spPr>
      </p:pic>
      <p:sp>
        <p:nvSpPr>
          <p:cNvPr id="32" name="Text 22"/>
          <p:cNvSpPr/>
          <p:nvPr/>
        </p:nvSpPr>
        <p:spPr>
          <a:xfrm>
            <a:off x="10031254" y="4885217"/>
            <a:ext cx="1809393" cy="199787"/>
          </a:xfrm>
          <a:prstGeom prst="rect">
            <a:avLst/>
          </a:prstGeom>
          <a:noFill/>
          <a:ln/>
        </p:spPr>
        <p:txBody>
          <a:bodyPr wrap="none" lIns="0" tIns="0" rIns="0" bIns="0" rtlCol="0" anchor="t"/>
          <a:lstStyle/>
          <a:p>
            <a:pPr marL="0" indent="0" algn="l">
              <a:lnSpc>
                <a:spcPts val="1550"/>
              </a:lnSpc>
              <a:buNone/>
            </a:pPr>
            <a:r>
              <a:rPr lang="en-US" sz="1250" dirty="0">
                <a:solidFill>
                  <a:srgbClr val="DAD8E9"/>
                </a:solidFill>
                <a:latin typeface="Prompt Medium" pitchFamily="34" charset="0"/>
                <a:ea typeface="Prompt Medium" pitchFamily="34" charset="-122"/>
                <a:cs typeface="Prompt Medium" pitchFamily="34" charset="-120"/>
              </a:rPr>
              <a:t>Improved Code Quality</a:t>
            </a:r>
            <a:endParaRPr lang="en-US" sz="1250" dirty="0"/>
          </a:p>
        </p:txBody>
      </p:sp>
      <p:sp>
        <p:nvSpPr>
          <p:cNvPr id="33" name="Text 23"/>
          <p:cNvSpPr/>
          <p:nvPr/>
        </p:nvSpPr>
        <p:spPr>
          <a:xfrm>
            <a:off x="10031254" y="5245806"/>
            <a:ext cx="3824407" cy="180737"/>
          </a:xfrm>
          <a:prstGeom prst="rect">
            <a:avLst/>
          </a:prstGeom>
          <a:noFill/>
          <a:ln/>
        </p:spPr>
        <p:txBody>
          <a:bodyPr wrap="none" lIns="0" tIns="0" rIns="0" bIns="0" rtlCol="0" anchor="t"/>
          <a:lstStyle/>
          <a:p>
            <a:pPr marL="0" indent="0" algn="l">
              <a:lnSpc>
                <a:spcPts val="1400"/>
              </a:lnSpc>
              <a:buNone/>
            </a:pPr>
            <a:r>
              <a:rPr lang="en-US" sz="1100" dirty="0">
                <a:solidFill>
                  <a:srgbClr val="DAD8E9"/>
                </a:solidFill>
                <a:latin typeface="Mukta Light" pitchFamily="34" charset="0"/>
                <a:ea typeface="Mukta Light" pitchFamily="34" charset="-122"/>
                <a:cs typeface="Mukta Light" pitchFamily="34" charset="-120"/>
              </a:rPr>
              <a:t>Proactive security and testing</a:t>
            </a:r>
            <a:endParaRPr lang="en-US" sz="1100" dirty="0"/>
          </a:p>
        </p:txBody>
      </p:sp>
      <p:sp>
        <p:nvSpPr>
          <p:cNvPr id="34" name="Text 24"/>
          <p:cNvSpPr/>
          <p:nvPr/>
        </p:nvSpPr>
        <p:spPr>
          <a:xfrm>
            <a:off x="774621" y="5555845"/>
            <a:ext cx="2228850" cy="239673"/>
          </a:xfrm>
          <a:prstGeom prst="rect">
            <a:avLst/>
          </a:prstGeom>
          <a:noFill/>
          <a:ln/>
        </p:spPr>
        <p:txBody>
          <a:bodyPr wrap="none" lIns="0" tIns="0" rIns="0" bIns="0" rtlCol="0" anchor="t"/>
          <a:lstStyle/>
          <a:p>
            <a:pPr marL="0" indent="0" algn="l">
              <a:lnSpc>
                <a:spcPts val="1850"/>
              </a:lnSpc>
              <a:buNone/>
            </a:pPr>
            <a:r>
              <a:rPr lang="en-US" sz="1900" dirty="0">
                <a:solidFill>
                  <a:srgbClr val="C6BFEE"/>
                </a:solidFill>
                <a:latin typeface="Prompt Medium" pitchFamily="34" charset="0"/>
                <a:ea typeface="Prompt Medium" pitchFamily="34" charset="-122"/>
                <a:cs typeface="Prompt Medium" pitchFamily="34" charset="-120"/>
              </a:rPr>
              <a:t>Why GitHub Stands Out</a:t>
            </a:r>
            <a:endParaRPr lang="en-US" sz="1900" dirty="0"/>
          </a:p>
        </p:txBody>
      </p:sp>
      <p:sp>
        <p:nvSpPr>
          <p:cNvPr id="35" name="Shape 25"/>
          <p:cNvSpPr/>
          <p:nvPr/>
        </p:nvSpPr>
        <p:spPr>
          <a:xfrm>
            <a:off x="774621" y="5918747"/>
            <a:ext cx="13081159" cy="1518523"/>
          </a:xfrm>
          <a:prstGeom prst="roundRect">
            <a:avLst>
              <a:gd name="adj" fmla="val 3979"/>
            </a:avLst>
          </a:prstGeom>
          <a:noFill/>
          <a:ln w="7620">
            <a:solidFill>
              <a:srgbClr val="FFFFFF">
                <a:alpha val="24000"/>
              </a:srgbClr>
            </a:solidFill>
            <a:prstDash val="solid"/>
          </a:ln>
        </p:spPr>
        <p:txBody>
          <a:bodyPr/>
          <a:lstStyle/>
          <a:p>
            <a:endParaRPr lang="en-US"/>
          </a:p>
        </p:txBody>
      </p:sp>
      <p:sp>
        <p:nvSpPr>
          <p:cNvPr id="36" name="Shape 26"/>
          <p:cNvSpPr/>
          <p:nvPr/>
        </p:nvSpPr>
        <p:spPr>
          <a:xfrm>
            <a:off x="782241" y="5926367"/>
            <a:ext cx="13065919" cy="294561"/>
          </a:xfrm>
          <a:prstGeom prst="rect">
            <a:avLst/>
          </a:prstGeom>
          <a:solidFill>
            <a:srgbClr val="FFFFFF">
              <a:alpha val="4000"/>
            </a:srgbClr>
          </a:solidFill>
          <a:ln/>
        </p:spPr>
        <p:txBody>
          <a:bodyPr/>
          <a:lstStyle/>
          <a:p>
            <a:endParaRPr lang="en-US"/>
          </a:p>
        </p:txBody>
      </p:sp>
      <p:sp>
        <p:nvSpPr>
          <p:cNvPr id="37" name="Text 27"/>
          <p:cNvSpPr/>
          <p:nvPr/>
        </p:nvSpPr>
        <p:spPr>
          <a:xfrm>
            <a:off x="926187" y="5983279"/>
            <a:ext cx="4064675" cy="180737"/>
          </a:xfrm>
          <a:prstGeom prst="rect">
            <a:avLst/>
          </a:prstGeom>
          <a:noFill/>
          <a:ln/>
        </p:spPr>
        <p:txBody>
          <a:bodyPr wrap="none" lIns="0" tIns="0" rIns="0" bIns="0" rtlCol="0" anchor="t"/>
          <a:lstStyle/>
          <a:p>
            <a:pPr marL="0" indent="0" algn="l">
              <a:lnSpc>
                <a:spcPts val="1400"/>
              </a:lnSpc>
              <a:buNone/>
            </a:pPr>
            <a:r>
              <a:rPr lang="en-US" sz="1100" dirty="0">
                <a:solidFill>
                  <a:srgbClr val="DAD8E9"/>
                </a:solidFill>
                <a:latin typeface="Mukta Light" pitchFamily="34" charset="0"/>
                <a:ea typeface="Mukta Light" pitchFamily="34" charset="-122"/>
                <a:cs typeface="Mukta Light" pitchFamily="34" charset="-120"/>
              </a:rPr>
              <a:t>Feature</a:t>
            </a:r>
            <a:endParaRPr lang="en-US" sz="1100" dirty="0"/>
          </a:p>
        </p:txBody>
      </p:sp>
      <p:sp>
        <p:nvSpPr>
          <p:cNvPr id="38" name="Text 28"/>
          <p:cNvSpPr/>
          <p:nvPr/>
        </p:nvSpPr>
        <p:spPr>
          <a:xfrm>
            <a:off x="5286137" y="5983279"/>
            <a:ext cx="4059555" cy="180737"/>
          </a:xfrm>
          <a:prstGeom prst="rect">
            <a:avLst/>
          </a:prstGeom>
          <a:noFill/>
          <a:ln/>
        </p:spPr>
        <p:txBody>
          <a:bodyPr wrap="none" lIns="0" tIns="0" rIns="0" bIns="0" rtlCol="0" anchor="t"/>
          <a:lstStyle/>
          <a:p>
            <a:pPr marL="0" indent="0" algn="l">
              <a:lnSpc>
                <a:spcPts val="1400"/>
              </a:lnSpc>
              <a:buNone/>
            </a:pPr>
            <a:r>
              <a:rPr lang="en-US" sz="1100" dirty="0">
                <a:solidFill>
                  <a:srgbClr val="DAD8E9"/>
                </a:solidFill>
                <a:latin typeface="Mukta Light" pitchFamily="34" charset="0"/>
                <a:ea typeface="Mukta Light" pitchFamily="34" charset="-122"/>
                <a:cs typeface="Mukta Light" pitchFamily="34" charset="-120"/>
              </a:rPr>
              <a:t>GitHub</a:t>
            </a:r>
            <a:endParaRPr lang="en-US" sz="1100" dirty="0"/>
          </a:p>
        </p:txBody>
      </p:sp>
      <p:sp>
        <p:nvSpPr>
          <p:cNvPr id="39" name="Text 29"/>
          <p:cNvSpPr/>
          <p:nvPr/>
        </p:nvSpPr>
        <p:spPr>
          <a:xfrm>
            <a:off x="9640967" y="5983279"/>
            <a:ext cx="4063365" cy="180737"/>
          </a:xfrm>
          <a:prstGeom prst="rect">
            <a:avLst/>
          </a:prstGeom>
          <a:noFill/>
          <a:ln/>
        </p:spPr>
        <p:txBody>
          <a:bodyPr wrap="none" lIns="0" tIns="0" rIns="0" bIns="0" rtlCol="0" anchor="t"/>
          <a:lstStyle/>
          <a:p>
            <a:pPr marL="0" indent="0" algn="l">
              <a:lnSpc>
                <a:spcPts val="1400"/>
              </a:lnSpc>
              <a:buNone/>
            </a:pPr>
            <a:r>
              <a:rPr lang="en-US" sz="1100" dirty="0">
                <a:solidFill>
                  <a:srgbClr val="DAD8E9"/>
                </a:solidFill>
                <a:latin typeface="Mukta Light" pitchFamily="34" charset="0"/>
                <a:ea typeface="Mukta Light" pitchFamily="34" charset="-122"/>
                <a:cs typeface="Mukta Light" pitchFamily="34" charset="-120"/>
              </a:rPr>
              <a:t>Others</a:t>
            </a:r>
            <a:endParaRPr lang="en-US" sz="1100" dirty="0"/>
          </a:p>
        </p:txBody>
      </p:sp>
      <p:sp>
        <p:nvSpPr>
          <p:cNvPr id="40" name="Shape 30"/>
          <p:cNvSpPr/>
          <p:nvPr/>
        </p:nvSpPr>
        <p:spPr>
          <a:xfrm>
            <a:off x="782241" y="6220928"/>
            <a:ext cx="13065919" cy="302181"/>
          </a:xfrm>
          <a:prstGeom prst="rect">
            <a:avLst/>
          </a:prstGeom>
          <a:solidFill>
            <a:srgbClr val="000000">
              <a:alpha val="4000"/>
            </a:srgbClr>
          </a:solidFill>
          <a:ln/>
        </p:spPr>
        <p:txBody>
          <a:bodyPr/>
          <a:lstStyle/>
          <a:p>
            <a:endParaRPr lang="en-US"/>
          </a:p>
        </p:txBody>
      </p:sp>
      <p:sp>
        <p:nvSpPr>
          <p:cNvPr id="41" name="Text 31"/>
          <p:cNvSpPr/>
          <p:nvPr/>
        </p:nvSpPr>
        <p:spPr>
          <a:xfrm>
            <a:off x="926187" y="6277840"/>
            <a:ext cx="4064675" cy="180737"/>
          </a:xfrm>
          <a:prstGeom prst="rect">
            <a:avLst/>
          </a:prstGeom>
          <a:noFill/>
          <a:ln/>
        </p:spPr>
        <p:txBody>
          <a:bodyPr wrap="none" lIns="0" tIns="0" rIns="0" bIns="0" rtlCol="0" anchor="t"/>
          <a:lstStyle/>
          <a:p>
            <a:pPr marL="0" indent="0" algn="l">
              <a:lnSpc>
                <a:spcPts val="1400"/>
              </a:lnSpc>
              <a:buNone/>
            </a:pPr>
            <a:r>
              <a:rPr lang="en-US" sz="1100" dirty="0">
                <a:solidFill>
                  <a:srgbClr val="DAD8E9"/>
                </a:solidFill>
                <a:latin typeface="Mukta Light" pitchFamily="34" charset="0"/>
                <a:ea typeface="Mukta Light" pitchFamily="34" charset="-122"/>
                <a:cs typeface="Mukta Light" pitchFamily="34" charset="-120"/>
              </a:rPr>
              <a:t>CI/CD Built-in</a:t>
            </a:r>
            <a:endParaRPr lang="en-US" sz="1100" dirty="0"/>
          </a:p>
        </p:txBody>
      </p:sp>
      <p:sp>
        <p:nvSpPr>
          <p:cNvPr id="42" name="Text 32"/>
          <p:cNvSpPr/>
          <p:nvPr/>
        </p:nvSpPr>
        <p:spPr>
          <a:xfrm>
            <a:off x="5286137" y="6277840"/>
            <a:ext cx="4059555" cy="188357"/>
          </a:xfrm>
          <a:prstGeom prst="rect">
            <a:avLst/>
          </a:prstGeom>
          <a:noFill/>
          <a:ln/>
        </p:spPr>
        <p:txBody>
          <a:bodyPr wrap="none" lIns="0" tIns="0" rIns="0" bIns="0" rtlCol="0" anchor="t"/>
          <a:lstStyle/>
          <a:p>
            <a:pPr marL="0" indent="0" algn="l">
              <a:lnSpc>
                <a:spcPts val="1400"/>
              </a:lnSpc>
              <a:buNone/>
            </a:pPr>
            <a:r>
              <a:rPr lang="en-US" sz="1100" dirty="0">
                <a:solidFill>
                  <a:srgbClr val="000000"/>
                </a:solidFill>
                <a:latin typeface="Mukta Light" pitchFamily="34" charset="0"/>
                <a:ea typeface="Mukta Light" pitchFamily="34" charset="-122"/>
                <a:cs typeface="Mukta Light" pitchFamily="34" charset="-120"/>
              </a:rPr>
              <a:t>✅</a:t>
            </a:r>
            <a:endParaRPr lang="en-US" sz="1100" dirty="0"/>
          </a:p>
        </p:txBody>
      </p:sp>
      <p:sp>
        <p:nvSpPr>
          <p:cNvPr id="43" name="Text 33"/>
          <p:cNvSpPr/>
          <p:nvPr/>
        </p:nvSpPr>
        <p:spPr>
          <a:xfrm>
            <a:off x="9640967" y="6277840"/>
            <a:ext cx="4063365" cy="188357"/>
          </a:xfrm>
          <a:prstGeom prst="rect">
            <a:avLst/>
          </a:prstGeom>
          <a:noFill/>
          <a:ln/>
        </p:spPr>
        <p:txBody>
          <a:bodyPr wrap="none" lIns="0" tIns="0" rIns="0" bIns="0" rtlCol="0" anchor="t"/>
          <a:lstStyle/>
          <a:p>
            <a:pPr marL="0" indent="0" algn="l">
              <a:lnSpc>
                <a:spcPts val="1400"/>
              </a:lnSpc>
              <a:buNone/>
            </a:pPr>
            <a:r>
              <a:rPr lang="en-US" sz="1100" dirty="0">
                <a:solidFill>
                  <a:srgbClr val="000000"/>
                </a:solidFill>
                <a:latin typeface="Mukta Light" pitchFamily="34" charset="0"/>
                <a:ea typeface="Mukta Light" pitchFamily="34" charset="-122"/>
                <a:cs typeface="Mukta Light" pitchFamily="34" charset="-120"/>
              </a:rPr>
              <a:t>❌</a:t>
            </a:r>
            <a:endParaRPr lang="en-US" sz="1100" dirty="0"/>
          </a:p>
        </p:txBody>
      </p:sp>
      <p:sp>
        <p:nvSpPr>
          <p:cNvPr id="44" name="Shape 34"/>
          <p:cNvSpPr/>
          <p:nvPr/>
        </p:nvSpPr>
        <p:spPr>
          <a:xfrm>
            <a:off x="782241" y="6523108"/>
            <a:ext cx="13065919" cy="302181"/>
          </a:xfrm>
          <a:prstGeom prst="rect">
            <a:avLst/>
          </a:prstGeom>
          <a:solidFill>
            <a:srgbClr val="FFFFFF">
              <a:alpha val="4000"/>
            </a:srgbClr>
          </a:solidFill>
          <a:ln/>
        </p:spPr>
        <p:txBody>
          <a:bodyPr/>
          <a:lstStyle/>
          <a:p>
            <a:endParaRPr lang="en-US"/>
          </a:p>
        </p:txBody>
      </p:sp>
      <p:sp>
        <p:nvSpPr>
          <p:cNvPr id="45" name="Text 35"/>
          <p:cNvSpPr/>
          <p:nvPr/>
        </p:nvSpPr>
        <p:spPr>
          <a:xfrm>
            <a:off x="926187" y="6580020"/>
            <a:ext cx="4064675" cy="180737"/>
          </a:xfrm>
          <a:prstGeom prst="rect">
            <a:avLst/>
          </a:prstGeom>
          <a:noFill/>
          <a:ln/>
        </p:spPr>
        <p:txBody>
          <a:bodyPr wrap="none" lIns="0" tIns="0" rIns="0" bIns="0" rtlCol="0" anchor="t"/>
          <a:lstStyle/>
          <a:p>
            <a:pPr marL="0" indent="0" algn="l">
              <a:lnSpc>
                <a:spcPts val="1400"/>
              </a:lnSpc>
              <a:buNone/>
            </a:pPr>
            <a:r>
              <a:rPr lang="en-US" sz="1100" dirty="0">
                <a:solidFill>
                  <a:srgbClr val="DAD8E9"/>
                </a:solidFill>
                <a:latin typeface="Mukta Light" pitchFamily="34" charset="0"/>
                <a:ea typeface="Mukta Light" pitchFamily="34" charset="-122"/>
                <a:cs typeface="Mukta Light" pitchFamily="34" charset="-120"/>
              </a:rPr>
              <a:t>Integrations &amp; Marketplace</a:t>
            </a:r>
            <a:endParaRPr lang="en-US" sz="1100" dirty="0"/>
          </a:p>
        </p:txBody>
      </p:sp>
      <p:sp>
        <p:nvSpPr>
          <p:cNvPr id="46" name="Text 36"/>
          <p:cNvSpPr/>
          <p:nvPr/>
        </p:nvSpPr>
        <p:spPr>
          <a:xfrm>
            <a:off x="5286137" y="6580020"/>
            <a:ext cx="4059555" cy="188357"/>
          </a:xfrm>
          <a:prstGeom prst="rect">
            <a:avLst/>
          </a:prstGeom>
          <a:noFill/>
          <a:ln/>
        </p:spPr>
        <p:txBody>
          <a:bodyPr wrap="none" lIns="0" tIns="0" rIns="0" bIns="0" rtlCol="0" anchor="t"/>
          <a:lstStyle/>
          <a:p>
            <a:pPr marL="0" indent="0" algn="l">
              <a:lnSpc>
                <a:spcPts val="1400"/>
              </a:lnSpc>
              <a:buNone/>
            </a:pPr>
            <a:r>
              <a:rPr lang="en-US" sz="1100" dirty="0">
                <a:solidFill>
                  <a:srgbClr val="000000"/>
                </a:solidFill>
                <a:latin typeface="Mukta Light" pitchFamily="34" charset="0"/>
                <a:ea typeface="Mukta Light" pitchFamily="34" charset="-122"/>
                <a:cs typeface="Mukta Light" pitchFamily="34" charset="-120"/>
              </a:rPr>
              <a:t>✅</a:t>
            </a:r>
            <a:endParaRPr lang="en-US" sz="1100" dirty="0"/>
          </a:p>
        </p:txBody>
      </p:sp>
      <p:sp>
        <p:nvSpPr>
          <p:cNvPr id="47" name="Text 37"/>
          <p:cNvSpPr/>
          <p:nvPr/>
        </p:nvSpPr>
        <p:spPr>
          <a:xfrm>
            <a:off x="9640967" y="6580020"/>
            <a:ext cx="4063365" cy="188357"/>
          </a:xfrm>
          <a:prstGeom prst="rect">
            <a:avLst/>
          </a:prstGeom>
          <a:noFill/>
          <a:ln/>
        </p:spPr>
        <p:txBody>
          <a:bodyPr wrap="none" lIns="0" tIns="0" rIns="0" bIns="0" rtlCol="0" anchor="t"/>
          <a:lstStyle/>
          <a:p>
            <a:pPr marL="0" indent="0" algn="l">
              <a:lnSpc>
                <a:spcPts val="1400"/>
              </a:lnSpc>
              <a:buNone/>
            </a:pPr>
            <a:r>
              <a:rPr lang="en-US" sz="1100" dirty="0">
                <a:solidFill>
                  <a:srgbClr val="000000"/>
                </a:solidFill>
                <a:latin typeface="Mukta Light" pitchFamily="34" charset="0"/>
                <a:ea typeface="Mukta Light" pitchFamily="34" charset="-122"/>
                <a:cs typeface="Mukta Light" pitchFamily="34" charset="-120"/>
              </a:rPr>
              <a:t>✅</a:t>
            </a:r>
            <a:endParaRPr lang="en-US" sz="1100" dirty="0"/>
          </a:p>
        </p:txBody>
      </p:sp>
      <p:sp>
        <p:nvSpPr>
          <p:cNvPr id="48" name="Shape 38"/>
          <p:cNvSpPr/>
          <p:nvPr/>
        </p:nvSpPr>
        <p:spPr>
          <a:xfrm>
            <a:off x="782241" y="6825289"/>
            <a:ext cx="13065919" cy="302181"/>
          </a:xfrm>
          <a:prstGeom prst="rect">
            <a:avLst/>
          </a:prstGeom>
          <a:solidFill>
            <a:srgbClr val="000000">
              <a:alpha val="4000"/>
            </a:srgbClr>
          </a:solidFill>
          <a:ln/>
        </p:spPr>
        <p:txBody>
          <a:bodyPr/>
          <a:lstStyle/>
          <a:p>
            <a:endParaRPr lang="en-US"/>
          </a:p>
        </p:txBody>
      </p:sp>
      <p:sp>
        <p:nvSpPr>
          <p:cNvPr id="49" name="Text 39"/>
          <p:cNvSpPr/>
          <p:nvPr/>
        </p:nvSpPr>
        <p:spPr>
          <a:xfrm>
            <a:off x="926187" y="6882201"/>
            <a:ext cx="4064675" cy="180737"/>
          </a:xfrm>
          <a:prstGeom prst="rect">
            <a:avLst/>
          </a:prstGeom>
          <a:noFill/>
          <a:ln/>
        </p:spPr>
        <p:txBody>
          <a:bodyPr wrap="none" lIns="0" tIns="0" rIns="0" bIns="0" rtlCol="0" anchor="t"/>
          <a:lstStyle/>
          <a:p>
            <a:pPr marL="0" indent="0" algn="l">
              <a:lnSpc>
                <a:spcPts val="1400"/>
              </a:lnSpc>
              <a:buNone/>
            </a:pPr>
            <a:r>
              <a:rPr lang="en-US" sz="1100" dirty="0">
                <a:solidFill>
                  <a:srgbClr val="DAD8E9"/>
                </a:solidFill>
                <a:latin typeface="Mukta Light" pitchFamily="34" charset="0"/>
                <a:ea typeface="Mukta Light" pitchFamily="34" charset="-122"/>
                <a:cs typeface="Mukta Light" pitchFamily="34" charset="-120"/>
              </a:rPr>
              <a:t>Community &amp; Ecosystem</a:t>
            </a:r>
            <a:endParaRPr lang="en-US" sz="1100" dirty="0"/>
          </a:p>
        </p:txBody>
      </p:sp>
      <p:sp>
        <p:nvSpPr>
          <p:cNvPr id="50" name="Text 40"/>
          <p:cNvSpPr/>
          <p:nvPr/>
        </p:nvSpPr>
        <p:spPr>
          <a:xfrm>
            <a:off x="5286137" y="6882201"/>
            <a:ext cx="4059555" cy="188357"/>
          </a:xfrm>
          <a:prstGeom prst="rect">
            <a:avLst/>
          </a:prstGeom>
          <a:noFill/>
          <a:ln/>
        </p:spPr>
        <p:txBody>
          <a:bodyPr wrap="none" lIns="0" tIns="0" rIns="0" bIns="0" rtlCol="0" anchor="t"/>
          <a:lstStyle/>
          <a:p>
            <a:pPr marL="0" indent="0" algn="l">
              <a:lnSpc>
                <a:spcPts val="1400"/>
              </a:lnSpc>
              <a:buNone/>
            </a:pPr>
            <a:r>
              <a:rPr lang="en-US" sz="1100" dirty="0">
                <a:solidFill>
                  <a:srgbClr val="000000"/>
                </a:solidFill>
                <a:latin typeface="Mukta Light" pitchFamily="34" charset="0"/>
                <a:ea typeface="Mukta Light" pitchFamily="34" charset="-122"/>
                <a:cs typeface="Mukta Light" pitchFamily="34" charset="-120"/>
              </a:rPr>
              <a:t>✅</a:t>
            </a:r>
            <a:endParaRPr lang="en-US" sz="1100" dirty="0"/>
          </a:p>
        </p:txBody>
      </p:sp>
      <p:sp>
        <p:nvSpPr>
          <p:cNvPr id="51" name="Text 41"/>
          <p:cNvSpPr/>
          <p:nvPr/>
        </p:nvSpPr>
        <p:spPr>
          <a:xfrm>
            <a:off x="9640967" y="6882201"/>
            <a:ext cx="4063365" cy="188357"/>
          </a:xfrm>
          <a:prstGeom prst="rect">
            <a:avLst/>
          </a:prstGeom>
          <a:noFill/>
          <a:ln/>
        </p:spPr>
        <p:txBody>
          <a:bodyPr wrap="none" lIns="0" tIns="0" rIns="0" bIns="0" rtlCol="0" anchor="t"/>
          <a:lstStyle/>
          <a:p>
            <a:pPr marL="0" indent="0" algn="l">
              <a:lnSpc>
                <a:spcPts val="1400"/>
              </a:lnSpc>
              <a:buNone/>
            </a:pPr>
            <a:r>
              <a:rPr lang="en-US" sz="1100" dirty="0">
                <a:solidFill>
                  <a:srgbClr val="000000"/>
                </a:solidFill>
                <a:latin typeface="Mukta Light" pitchFamily="34" charset="0"/>
                <a:ea typeface="Mukta Light" pitchFamily="34" charset="-122"/>
                <a:cs typeface="Mukta Light" pitchFamily="34" charset="-120"/>
              </a:rPr>
              <a:t>❌</a:t>
            </a:r>
            <a:endParaRPr lang="en-US" sz="1100" dirty="0"/>
          </a:p>
        </p:txBody>
      </p:sp>
      <p:sp>
        <p:nvSpPr>
          <p:cNvPr id="52" name="Shape 42"/>
          <p:cNvSpPr/>
          <p:nvPr/>
        </p:nvSpPr>
        <p:spPr>
          <a:xfrm>
            <a:off x="782241" y="7127470"/>
            <a:ext cx="13065919" cy="302181"/>
          </a:xfrm>
          <a:prstGeom prst="rect">
            <a:avLst/>
          </a:prstGeom>
          <a:solidFill>
            <a:srgbClr val="FFFFFF">
              <a:alpha val="4000"/>
            </a:srgbClr>
          </a:solidFill>
          <a:ln/>
        </p:spPr>
        <p:txBody>
          <a:bodyPr/>
          <a:lstStyle/>
          <a:p>
            <a:endParaRPr lang="en-US"/>
          </a:p>
        </p:txBody>
      </p:sp>
      <p:sp>
        <p:nvSpPr>
          <p:cNvPr id="53" name="Text 43"/>
          <p:cNvSpPr/>
          <p:nvPr/>
        </p:nvSpPr>
        <p:spPr>
          <a:xfrm>
            <a:off x="926187" y="7184382"/>
            <a:ext cx="4064675" cy="180737"/>
          </a:xfrm>
          <a:prstGeom prst="rect">
            <a:avLst/>
          </a:prstGeom>
          <a:noFill/>
          <a:ln/>
        </p:spPr>
        <p:txBody>
          <a:bodyPr wrap="none" lIns="0" tIns="0" rIns="0" bIns="0" rtlCol="0" anchor="t"/>
          <a:lstStyle/>
          <a:p>
            <a:pPr marL="0" indent="0" algn="l">
              <a:lnSpc>
                <a:spcPts val="1400"/>
              </a:lnSpc>
              <a:buNone/>
            </a:pPr>
            <a:r>
              <a:rPr lang="en-US" sz="1100" dirty="0">
                <a:solidFill>
                  <a:srgbClr val="DAD8E9"/>
                </a:solidFill>
                <a:latin typeface="Mukta Light" pitchFamily="34" charset="0"/>
                <a:ea typeface="Mukta Light" pitchFamily="34" charset="-122"/>
                <a:cs typeface="Mukta Light" pitchFamily="34" charset="-120"/>
              </a:rPr>
              <a:t>Enterprise Security</a:t>
            </a:r>
            <a:endParaRPr lang="en-US" sz="1100" dirty="0"/>
          </a:p>
        </p:txBody>
      </p:sp>
      <p:sp>
        <p:nvSpPr>
          <p:cNvPr id="54" name="Text 44"/>
          <p:cNvSpPr/>
          <p:nvPr/>
        </p:nvSpPr>
        <p:spPr>
          <a:xfrm>
            <a:off x="5286137" y="7184382"/>
            <a:ext cx="4059555" cy="188357"/>
          </a:xfrm>
          <a:prstGeom prst="rect">
            <a:avLst/>
          </a:prstGeom>
          <a:noFill/>
          <a:ln/>
        </p:spPr>
        <p:txBody>
          <a:bodyPr wrap="none" lIns="0" tIns="0" rIns="0" bIns="0" rtlCol="0" anchor="t"/>
          <a:lstStyle/>
          <a:p>
            <a:pPr marL="0" indent="0" algn="l">
              <a:lnSpc>
                <a:spcPts val="1400"/>
              </a:lnSpc>
              <a:buNone/>
            </a:pPr>
            <a:r>
              <a:rPr lang="en-US" sz="1100" dirty="0">
                <a:solidFill>
                  <a:srgbClr val="000000"/>
                </a:solidFill>
                <a:latin typeface="Mukta Light" pitchFamily="34" charset="0"/>
                <a:ea typeface="Mukta Light" pitchFamily="34" charset="-122"/>
                <a:cs typeface="Mukta Light" pitchFamily="34" charset="-120"/>
              </a:rPr>
              <a:t>✅</a:t>
            </a:r>
            <a:endParaRPr lang="en-US" sz="1100" dirty="0"/>
          </a:p>
        </p:txBody>
      </p:sp>
      <p:sp>
        <p:nvSpPr>
          <p:cNvPr id="55" name="Text 45"/>
          <p:cNvSpPr/>
          <p:nvPr/>
        </p:nvSpPr>
        <p:spPr>
          <a:xfrm>
            <a:off x="9640967" y="7184382"/>
            <a:ext cx="4063365" cy="188357"/>
          </a:xfrm>
          <a:prstGeom prst="rect">
            <a:avLst/>
          </a:prstGeom>
          <a:noFill/>
          <a:ln/>
        </p:spPr>
        <p:txBody>
          <a:bodyPr wrap="none" lIns="0" tIns="0" rIns="0" bIns="0" rtlCol="0" anchor="t"/>
          <a:lstStyle/>
          <a:p>
            <a:pPr marL="0" indent="0" algn="l">
              <a:lnSpc>
                <a:spcPts val="1400"/>
              </a:lnSpc>
              <a:buNone/>
            </a:pPr>
            <a:r>
              <a:rPr lang="en-US" sz="1100" dirty="0">
                <a:solidFill>
                  <a:srgbClr val="000000"/>
                </a:solidFill>
                <a:latin typeface="Mukta Light" pitchFamily="34" charset="0"/>
                <a:ea typeface="Mukta Light" pitchFamily="34" charset="-122"/>
                <a:cs typeface="Mukta Light" pitchFamily="34" charset="-120"/>
              </a:rPr>
              <a:t>✅</a:t>
            </a:r>
            <a:endParaRPr lang="en-US" sz="1100" dirty="0"/>
          </a:p>
        </p:txBody>
      </p:sp>
      <p:sp>
        <p:nvSpPr>
          <p:cNvPr id="56" name="Text 46"/>
          <p:cNvSpPr/>
          <p:nvPr/>
        </p:nvSpPr>
        <p:spPr>
          <a:xfrm>
            <a:off x="774621" y="7752686"/>
            <a:ext cx="13081159" cy="180737"/>
          </a:xfrm>
          <a:prstGeom prst="rect">
            <a:avLst/>
          </a:prstGeom>
          <a:noFill/>
          <a:ln/>
        </p:spPr>
        <p:txBody>
          <a:bodyPr wrap="none" lIns="0" tIns="0" rIns="0" bIns="0" rtlCol="0" anchor="t"/>
          <a:lstStyle/>
          <a:p>
            <a:pPr marL="0" indent="0" algn="l">
              <a:lnSpc>
                <a:spcPts val="1400"/>
              </a:lnSpc>
              <a:buNone/>
            </a:pPr>
            <a:r>
              <a:rPr lang="en-US" sz="1300" dirty="0">
                <a:solidFill>
                  <a:srgbClr val="DAD8E9"/>
                </a:solidFill>
                <a:latin typeface="Mukta Light" pitchFamily="34" charset="0"/>
                <a:ea typeface="Mukta Light" pitchFamily="34" charset="-122"/>
                <a:cs typeface="Mukta Light" pitchFamily="34" charset="-120"/>
              </a:rPr>
              <a:t>GitHub simplifies code collaboration and accelerates delivery at every stage.</a:t>
            </a:r>
            <a:endParaRPr lang="en-US" sz="1300" dirty="0"/>
          </a:p>
        </p:txBody>
      </p:sp>
      <p:sp>
        <p:nvSpPr>
          <p:cNvPr id="57" name="Rectangle 56">
            <a:extLst>
              <a:ext uri="{FF2B5EF4-FFF2-40B4-BE49-F238E27FC236}">
                <a16:creationId xmlns:a16="http://schemas.microsoft.com/office/drawing/2014/main" id="{8CEC691B-07D6-7373-8685-DC998CF2B82A}"/>
              </a:ext>
            </a:extLst>
          </p:cNvPr>
          <p:cNvSpPr/>
          <p:nvPr/>
        </p:nvSpPr>
        <p:spPr>
          <a:xfrm>
            <a:off x="12846205" y="7638587"/>
            <a:ext cx="1694985" cy="512956"/>
          </a:xfrm>
          <a:prstGeom prst="rect">
            <a:avLst/>
          </a:prstGeom>
          <a:solidFill>
            <a:srgbClr val="0A0B21"/>
          </a:solidFill>
          <a:ln>
            <a:solidFill>
              <a:srgbClr val="0A0B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Picture 57">
            <a:extLst>
              <a:ext uri="{FF2B5EF4-FFF2-40B4-BE49-F238E27FC236}">
                <a16:creationId xmlns:a16="http://schemas.microsoft.com/office/drawing/2014/main" id="{65C388A2-304C-1B45-0FFC-278B4653FB18}"/>
              </a:ext>
            </a:extLst>
          </p:cNvPr>
          <p:cNvPicPr>
            <a:picLocks noChangeAspect="1"/>
          </p:cNvPicPr>
          <p:nvPr/>
        </p:nvPicPr>
        <p:blipFill>
          <a:blip r:embed="rId14">
            <a:lum bright="70000" contrast="-70000"/>
            <a:extLst>
              <a:ext uri="{BEBA8EAE-BF5A-486C-A8C5-ECC9F3942E4B}">
                <a14:imgProps xmlns:a14="http://schemas.microsoft.com/office/drawing/2010/main">
                  <a14:imgLayer r:embed="rId15">
                    <a14:imgEffect>
                      <a14:artisticPhotocopy/>
                    </a14:imgEffect>
                  </a14:imgLayer>
                </a14:imgProps>
              </a:ext>
            </a:extLst>
          </a:blip>
          <a:stretch>
            <a:fillRect/>
          </a:stretch>
        </p:blipFill>
        <p:spPr>
          <a:xfrm>
            <a:off x="13736248" y="7326351"/>
            <a:ext cx="914400" cy="914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420</Words>
  <Application>Microsoft Office PowerPoint</Application>
  <PresentationFormat>Custom</PresentationFormat>
  <Paragraphs>82</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Mukta Light</vt:lpstr>
      <vt:lpstr>Prompt Medium</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Kshitij Jadhav</dc:creator>
  <cp:lastModifiedBy>social workers</cp:lastModifiedBy>
  <cp:revision>2</cp:revision>
  <dcterms:created xsi:type="dcterms:W3CDTF">2026-02-17T20:12:17Z</dcterms:created>
  <dcterms:modified xsi:type="dcterms:W3CDTF">2026-02-17T20:22:56Z</dcterms:modified>
</cp:coreProperties>
</file>